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handoutMasterIdLst>
    <p:handoutMasterId r:id="rId22"/>
  </p:handoutMasterIdLst>
  <p:sldIdLst>
    <p:sldId id="260" r:id="rId4"/>
    <p:sldId id="261" r:id="rId6"/>
    <p:sldId id="262" r:id="rId7"/>
    <p:sldId id="286" r:id="rId8"/>
    <p:sldId id="340" r:id="rId9"/>
    <p:sldId id="291" r:id="rId10"/>
    <p:sldId id="346" r:id="rId11"/>
    <p:sldId id="341" r:id="rId12"/>
    <p:sldId id="342" r:id="rId13"/>
    <p:sldId id="343" r:id="rId14"/>
    <p:sldId id="347" r:id="rId15"/>
    <p:sldId id="348" r:id="rId16"/>
    <p:sldId id="295" r:id="rId17"/>
    <p:sldId id="344" r:id="rId18"/>
    <p:sldId id="349" r:id="rId19"/>
    <p:sldId id="345" r:id="rId20"/>
    <p:sldId id="339" r:id="rId21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F4FF"/>
    <a:srgbClr val="2550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3" d="100"/>
          <a:sy n="63" d="100"/>
        </p:scale>
        <p:origin x="46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2155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gs" Target="tags/tag9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2F430-4740-40B5-85C9-2086213972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08A98F-62F7-4FC1-8793-2AC85E1AC76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977C3-5D49-4AE3-94A3-4A850F7186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3FDB9-DDE0-4054-8528-4EF247FF799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22EB3-8BB3-4D7C-920D-99B3A498A3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因此，我们的研究目标非常明确：利用观测数据，精确推断宇宙的基本参数。具体来说，我们将采用先进的贝叶斯MCMC方法，在不预设宇宙平直的前提下，估计物质密度Ωm和暗能量密度ΩΛ，并将结果与传统方法进行对比，以验证其可靠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我们的研究流程清晰而严谨。首先，我们加载数据；然后，实现理论模型；最后，通过一个总控脚本执行所有的拟合任务。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这是我们最核心的成果之一。这张Corner图展示了三个参数的后验分布。左下角的二维图清晰地显示，Ωm和ΩΛ的可能取值落在一条斜线上，这条线大致就是Ωm + ΩΛ = 1。这说明，虽然我们难以同时精确确定这两个参数，但它们的和却被数据很好地约束在了1附近。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从后验分布中，我们提取出了参数的最佳估计值。物质密度参数Ωm约为0.29，暗能量密度参数ΩΛ约为0.68。将它们相加，得到0.97，误差在0.05以内。这个结果非常接近1，有力地支持了我们的宇宙是平直的这一结论。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为了验证结果的可靠性，我们对比了两种不同的统计方法。贝叶斯MCMC方法和频率学最小二乘法给出的结果非常接近，Ωm和ΩΛ的估计值都只差0.01。这说明我们的结果是稳健的，不依赖于特定的统计方法。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我们的代码采用了清晰的模块化设计。数据层负责加载数据，模型层负责计算理论值，算法层包含了MCMC和最小二乘两种拟合方法，结果层负责可视化。主程序入口则负责调用这些模块。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具体来看，cosmology.py是物理模型的核心，负责将参数转换为理论距离模数。emcee_fit_2d.py定义了贝叶斯推断的先验和似然函数。而analysis.py则负责将计算结果绘制成我们之前看到的各种图表。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data_utils.py负责从文件加载和验证数据。main.py是一个灵活的命令行入口，用于单独运行某个分析。而run_all.py则是一个批处理脚本，可以一键执行所有任务，极大地提高了效率。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22EB3-8BB3-4D7C-920D-99B3A498A3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103367" y="6372416"/>
            <a:ext cx="36004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chemeClr val="lt1">
                    <a:lumMod val="50000"/>
                  </a:schemeClr>
                </a:solidFill>
                <a:effectLst/>
                <a:latin typeface="方正舒体" panose="02010601030101010101" pitchFamily="2" charset="-122"/>
                <a:ea typeface="方正舒体" panose="02010601030101010101" pitchFamily="2" charset="-122"/>
              </a:rPr>
              <a:t>自尊、致知、正义、力行</a:t>
            </a:r>
            <a:endParaRPr lang="zh-CN" altLang="en-US" sz="2000" b="0" i="0" dirty="0">
              <a:solidFill>
                <a:schemeClr val="lt1">
                  <a:lumMod val="50000"/>
                </a:schemeClr>
              </a:solidFill>
              <a:effectLst/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1357" y="160655"/>
            <a:ext cx="1717651" cy="55689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F5C7D-8D99-4A34-A1E2-2DE24A067E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3C24F6-D578-4DD4-A737-07C2BD280F1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image" Target="../media/image5.png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tags" Target="../tags/tag1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tags" Target="../tags/tag21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image" Target="../media/image9.svg"/><Relationship Id="rId11" Type="http://schemas.openxmlformats.org/officeDocument/2006/relationships/image" Target="../media/image8.png"/><Relationship Id="rId10" Type="http://schemas.openxmlformats.org/officeDocument/2006/relationships/tags" Target="../tags/tag27.xml"/><Relationship Id="rId1" Type="http://schemas.openxmlformats.org/officeDocument/2006/relationships/tags" Target="../tags/tag2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svg"/><Relationship Id="rId7" Type="http://schemas.openxmlformats.org/officeDocument/2006/relationships/image" Target="../media/image16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9.sv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tags" Target="../tags/tag3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41.xml"/><Relationship Id="rId15" Type="http://schemas.openxmlformats.org/officeDocument/2006/relationships/image" Target="../media/image32.svg"/><Relationship Id="rId14" Type="http://schemas.openxmlformats.org/officeDocument/2006/relationships/image" Target="../media/image31.png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image" Target="../media/image30.svg"/><Relationship Id="rId1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3" Type="http://schemas.openxmlformats.org/officeDocument/2006/relationships/tags" Target="../tags/tag44.xml"/><Relationship Id="rId20" Type="http://schemas.openxmlformats.org/officeDocument/2006/relationships/notesSlide" Target="../notesSlides/notesSlide5.xml"/><Relationship Id="rId2" Type="http://schemas.openxmlformats.org/officeDocument/2006/relationships/tags" Target="../tags/tag43.xml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38.svg"/><Relationship Id="rId17" Type="http://schemas.openxmlformats.org/officeDocument/2006/relationships/image" Target="../media/image37.png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image" Target="../media/image36.svg"/><Relationship Id="rId12" Type="http://schemas.openxmlformats.org/officeDocument/2006/relationships/image" Target="../media/image35.png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tags" Target="../tags/tag4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6" Type="http://schemas.openxmlformats.org/officeDocument/2006/relationships/notesSlide" Target="../notesSlides/notesSlide6.xml"/><Relationship Id="rId25" Type="http://schemas.openxmlformats.org/officeDocument/2006/relationships/slideLayout" Target="../slideLayouts/slideLayout1.xml"/><Relationship Id="rId24" Type="http://schemas.openxmlformats.org/officeDocument/2006/relationships/image" Target="../media/image38.svg"/><Relationship Id="rId23" Type="http://schemas.openxmlformats.org/officeDocument/2006/relationships/image" Target="../media/image37.png"/><Relationship Id="rId22" Type="http://schemas.openxmlformats.org/officeDocument/2006/relationships/tags" Target="../tags/tag71.xml"/><Relationship Id="rId21" Type="http://schemas.openxmlformats.org/officeDocument/2006/relationships/tags" Target="../tags/tag70.xml"/><Relationship Id="rId20" Type="http://schemas.openxmlformats.org/officeDocument/2006/relationships/tags" Target="../tags/tag69.xml"/><Relationship Id="rId2" Type="http://schemas.openxmlformats.org/officeDocument/2006/relationships/image" Target="../media/image40.svg"/><Relationship Id="rId19" Type="http://schemas.openxmlformats.org/officeDocument/2006/relationships/tags" Target="../tags/tag68.xml"/><Relationship Id="rId18" Type="http://schemas.openxmlformats.org/officeDocument/2006/relationships/tags" Target="../tags/tag67.xml"/><Relationship Id="rId17" Type="http://schemas.openxmlformats.org/officeDocument/2006/relationships/tags" Target="../tags/tag66.xml"/><Relationship Id="rId16" Type="http://schemas.openxmlformats.org/officeDocument/2006/relationships/tags" Target="../tags/tag65.xml"/><Relationship Id="rId15" Type="http://schemas.openxmlformats.org/officeDocument/2006/relationships/tags" Target="../tags/tag64.xml"/><Relationship Id="rId14" Type="http://schemas.openxmlformats.org/officeDocument/2006/relationships/tags" Target="../tags/tag63.xml"/><Relationship Id="rId13" Type="http://schemas.openxmlformats.org/officeDocument/2006/relationships/image" Target="../media/image42.svg"/><Relationship Id="rId12" Type="http://schemas.openxmlformats.org/officeDocument/2006/relationships/image" Target="../media/image41.png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tags" Target="../tags/tag7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image" Target="../media/image44.svg"/><Relationship Id="rId3" Type="http://schemas.openxmlformats.org/officeDocument/2006/relationships/image" Target="../media/image43.png"/><Relationship Id="rId25" Type="http://schemas.openxmlformats.org/officeDocument/2006/relationships/slideLayout" Target="../slideLayouts/slideLayout2.xml"/><Relationship Id="rId24" Type="http://schemas.openxmlformats.org/officeDocument/2006/relationships/tags" Target="../tags/tag90.xml"/><Relationship Id="rId23" Type="http://schemas.openxmlformats.org/officeDocument/2006/relationships/tags" Target="../tags/tag89.xml"/><Relationship Id="rId22" Type="http://schemas.openxmlformats.org/officeDocument/2006/relationships/tags" Target="../tags/tag88.xml"/><Relationship Id="rId21" Type="http://schemas.openxmlformats.org/officeDocument/2006/relationships/tags" Target="../tags/tag87.xml"/><Relationship Id="rId20" Type="http://schemas.openxmlformats.org/officeDocument/2006/relationships/tags" Target="../tags/tag86.xml"/><Relationship Id="rId2" Type="http://schemas.openxmlformats.org/officeDocument/2006/relationships/tags" Target="../tags/tag74.xml"/><Relationship Id="rId19" Type="http://schemas.openxmlformats.org/officeDocument/2006/relationships/tags" Target="../tags/tag85.xml"/><Relationship Id="rId18" Type="http://schemas.openxmlformats.org/officeDocument/2006/relationships/image" Target="../media/image48.svg"/><Relationship Id="rId17" Type="http://schemas.openxmlformats.org/officeDocument/2006/relationships/image" Target="../media/image47.png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tags" Target="../tags/tag80.xml"/><Relationship Id="rId11" Type="http://schemas.openxmlformats.org/officeDocument/2006/relationships/image" Target="../media/image46.svg"/><Relationship Id="rId10" Type="http://schemas.openxmlformats.org/officeDocument/2006/relationships/image" Target="../media/image45.png"/><Relationship Id="rId1" Type="http://schemas.openxmlformats.org/officeDocument/2006/relationships/tags" Target="../tags/tag7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tags" Target="../tags/tag9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6.png"/><Relationship Id="rId8" Type="http://schemas.openxmlformats.org/officeDocument/2006/relationships/image" Target="../media/image55.svg"/><Relationship Id="rId7" Type="http://schemas.openxmlformats.org/officeDocument/2006/relationships/image" Target="../media/image54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Relationship Id="rId3" Type="http://schemas.openxmlformats.org/officeDocument/2006/relationships/image" Target="../media/image50.png"/><Relationship Id="rId2" Type="http://schemas.openxmlformats.org/officeDocument/2006/relationships/image" Target="../media/image21.sv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57.svg"/><Relationship Id="rId1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61.svg"/><Relationship Id="rId3" Type="http://schemas.openxmlformats.org/officeDocument/2006/relationships/image" Target="../media/image60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67.svg"/><Relationship Id="rId3" Type="http://schemas.openxmlformats.org/officeDocument/2006/relationships/image" Target="../media/image66.png"/><Relationship Id="rId2" Type="http://schemas.openxmlformats.org/officeDocument/2006/relationships/image" Target="../media/image65.svg"/><Relationship Id="rId1" Type="http://schemas.openxmlformats.org/officeDocument/2006/relationships/image" Target="../media/image6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51" b="13595"/>
          <a:stretch>
            <a:fillRect/>
          </a:stretch>
        </p:blipFill>
        <p:spPr>
          <a:xfrm>
            <a:off x="194342" y="211432"/>
            <a:ext cx="11803316" cy="552602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4342" y="211432"/>
            <a:ext cx="11809309" cy="5526020"/>
          </a:xfrm>
          <a:prstGeom prst="rect">
            <a:avLst/>
          </a:prstGeom>
          <a:solidFill>
            <a:srgbClr val="024282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4949527" y="5155867"/>
            <a:ext cx="2292946" cy="38382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平行四边形 10"/>
          <p:cNvSpPr/>
          <p:nvPr/>
        </p:nvSpPr>
        <p:spPr>
          <a:xfrm>
            <a:off x="3406056" y="5935211"/>
            <a:ext cx="2764598" cy="487239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6038850" y="5935345"/>
            <a:ext cx="2840990" cy="487045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占位符 30"/>
          <p:cNvSpPr txBox="1"/>
          <p:nvPr/>
        </p:nvSpPr>
        <p:spPr>
          <a:xfrm>
            <a:off x="2832100" y="6030595"/>
            <a:ext cx="5829935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汇报人：熊家逸，韩雨洁，李博睿</a:t>
            </a:r>
            <a:endParaRPr lang="zh-CN" altLang="en-US" dirty="0">
              <a:solidFill>
                <a:sysClr val="window" lastClr="FFFFFF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占位符 32"/>
          <p:cNvSpPr txBox="1"/>
          <p:nvPr/>
        </p:nvSpPr>
        <p:spPr>
          <a:xfrm>
            <a:off x="4791075" y="521310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占位符 24"/>
          <p:cNvSpPr txBox="1"/>
          <p:nvPr/>
        </p:nvSpPr>
        <p:spPr>
          <a:xfrm>
            <a:off x="514743" y="2034179"/>
            <a:ext cx="11161239" cy="2133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超新星距离模数与双宇宙学参数的贝叶斯推断</a:t>
            </a:r>
            <a:endParaRPr lang="en-US"/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文本占位符 27"/>
          <p:cNvSpPr txBox="1"/>
          <p:nvPr/>
        </p:nvSpPr>
        <p:spPr>
          <a:xfrm>
            <a:off x="1166827" y="4542358"/>
            <a:ext cx="9858345" cy="2965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研究任务成果汇报 </a:t>
            </a:r>
            <a:r>
              <a:rPr lang="en-US" altLang="zh-CN" dirty="0">
                <a:solidFill>
                  <a:sysClr val="window" lastClr="FFFFFF"/>
                </a:solidFill>
              </a:rPr>
              <a:t>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182168" y="4352676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7819" y="647236"/>
            <a:ext cx="4324962" cy="14022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194824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-635" y="0"/>
            <a:ext cx="6198870" cy="6873240"/>
          </a:xfrm>
          <a:prstGeom prst="rect">
            <a:avLst/>
          </a:prstGeom>
          <a:gradFill flip="none" rotWithShape="1">
            <a:gsLst>
              <a:gs pos="0">
                <a:srgbClr val="024282">
                  <a:alpha val="70000"/>
                </a:srgbClr>
              </a:gs>
              <a:gs pos="59000">
                <a:srgbClr val="024282">
                  <a:alpha val="80000"/>
                </a:srgbClr>
              </a:gs>
              <a:gs pos="100000">
                <a:srgbClr val="024282">
                  <a:alpha val="9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251251" y="948678"/>
            <a:ext cx="3022484" cy="1350274"/>
            <a:chOff x="1283804" y="1236710"/>
            <a:chExt cx="3022484" cy="1350274"/>
          </a:xfrm>
        </p:grpSpPr>
        <p:sp>
          <p:nvSpPr>
            <p:cNvPr id="4" name="平行四边形 3"/>
            <p:cNvSpPr/>
            <p:nvPr/>
          </p:nvSpPr>
          <p:spPr>
            <a:xfrm>
              <a:off x="1283804" y="1236710"/>
              <a:ext cx="3022484" cy="1350274"/>
            </a:xfrm>
            <a:prstGeom prst="parallelogram">
              <a:avLst>
                <a:gd name="adj" fmla="val 3020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1573792" y="1256225"/>
              <a:ext cx="2410259" cy="1330759"/>
              <a:chOff x="4874746" y="232424"/>
              <a:chExt cx="2410259" cy="1330759"/>
            </a:xfrm>
          </p:grpSpPr>
          <p:sp>
            <p:nvSpPr>
              <p:cNvPr id="7" name="文本框 6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  <p:cNvSpPr txBox="1">
                <a:spLocks noChangeArrowheads="1"/>
              </p:cNvSpPr>
              <p:nvPr/>
            </p:nvSpPr>
            <p:spPr bwMode="auto">
              <a:xfrm>
                <a:off x="5193843" y="1163073"/>
                <a:ext cx="1772064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2865755" algn="l"/>
                  </a:tabLst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24282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  <a:sym typeface="Calibri" panose="020F0502020204030204" pitchFamily="34" charset="0"/>
                  </a:rPr>
                  <a:t>CONTENTS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endParaRPr>
              </a:p>
            </p:txBody>
          </p:sp>
          <p:sp>
            <p:nvSpPr>
              <p:cNvPr id="8" name="文本框 7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  <p:cNvSpPr txBox="1">
                <a:spLocks noChangeArrowheads="1"/>
              </p:cNvSpPr>
              <p:nvPr/>
            </p:nvSpPr>
            <p:spPr bwMode="auto">
              <a:xfrm>
                <a:off x="4874746" y="232424"/>
                <a:ext cx="2410259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2865755" algn="l"/>
                  </a:tabLst>
                  <a:defRPr/>
                </a:pPr>
                <a:r>
                  <a:rPr kumimoji="0" lang="zh-CN" alt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24282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Calibri" panose="020F0502020204030204" pitchFamily="34" charset="0"/>
                  </a:rPr>
                  <a:t>目 录</a:t>
                </a:r>
                <a:endParaRPr kumimoji="0" lang="en-US" altLang="zh-CN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endParaRPr>
              </a:p>
            </p:txBody>
          </p:sp>
          <p:cxnSp>
            <p:nvCxnSpPr>
              <p:cNvPr id="9" name="直接连接符 8"/>
              <p:cNvCxnSpPr/>
              <p:nvPr/>
            </p:nvCxnSpPr>
            <p:spPr>
              <a:xfrm>
                <a:off x="5471592" y="1091557"/>
                <a:ext cx="1224136" cy="0"/>
              </a:xfrm>
              <a:prstGeom prst="line">
                <a:avLst/>
              </a:prstGeom>
              <a:ln w="28575">
                <a:solidFill>
                  <a:srgbClr val="02428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" name="组合 12"/>
          <p:cNvGrpSpPr/>
          <p:nvPr>
            <p:custDataLst>
              <p:tags r:id="rId2"/>
            </p:custDataLst>
          </p:nvPr>
        </p:nvGrpSpPr>
        <p:grpSpPr>
          <a:xfrm>
            <a:off x="5527554" y="958746"/>
            <a:ext cx="1381373" cy="660400"/>
            <a:chOff x="5519936" y="1488468"/>
            <a:chExt cx="1381373" cy="6604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1" name="平行四边形 10"/>
            <p:cNvSpPr/>
            <p:nvPr>
              <p:custDataLst>
                <p:tags r:id="rId3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文本框 11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597600" y="1541909"/>
              <a:ext cx="10867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rPr>
                <a:t>01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5"/>
            </p:custDataLst>
          </p:nvPr>
        </p:nvGrpSpPr>
        <p:grpSpPr>
          <a:xfrm>
            <a:off x="5527555" y="2374903"/>
            <a:ext cx="1381373" cy="660400"/>
            <a:chOff x="5519936" y="1488468"/>
            <a:chExt cx="1381373" cy="660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平行四边形 14"/>
            <p:cNvSpPr/>
            <p:nvPr>
              <p:custDataLst>
                <p:tags r:id="rId6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文本框 15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597600" y="1541909"/>
              <a:ext cx="10867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rPr>
                <a:t>02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8"/>
            </p:custDataLst>
          </p:nvPr>
        </p:nvGrpSpPr>
        <p:grpSpPr>
          <a:xfrm>
            <a:off x="5457911" y="3791060"/>
            <a:ext cx="1381373" cy="660400"/>
            <a:chOff x="5519936" y="1488468"/>
            <a:chExt cx="1381373" cy="660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平行四边形 17"/>
            <p:cNvSpPr/>
            <p:nvPr>
              <p:custDataLst>
                <p:tags r:id="rId9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文本框 18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597600" y="1541909"/>
              <a:ext cx="10867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rPr>
                <a:t>03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31" name="文本框 6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415530" y="814705"/>
            <a:ext cx="16052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任务说明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文本框 6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7415530" y="2262505"/>
            <a:ext cx="16052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完成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情况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文本框 6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7415530" y="3679190"/>
            <a:ext cx="16052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物理意义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617953" y="6385194"/>
            <a:ext cx="36004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2000" b="0" i="0" dirty="0">
                <a:solidFill>
                  <a:srgbClr val="25506B"/>
                </a:solidFill>
                <a:effectLst/>
                <a:latin typeface="方正舒体" panose="02010601030101010101" pitchFamily="2" charset="-122"/>
                <a:ea typeface="方正舒体" panose="02010601030101010101" pitchFamily="2" charset="-122"/>
              </a:rPr>
              <a:t>自尊、致知、正义、力行</a:t>
            </a:r>
            <a:endParaRPr lang="zh-CN" altLang="en-US" sz="2000" b="0" i="0" dirty="0">
              <a:solidFill>
                <a:srgbClr val="25506B"/>
              </a:solidFill>
              <a:effectLst/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2208" y="724523"/>
            <a:ext cx="5426569" cy="5408481"/>
          </a:xfrm>
          <a:prstGeom prst="rect">
            <a:avLst/>
          </a:prstGeom>
          <a:noFill/>
        </p:spPr>
      </p:pic>
      <p:grpSp>
        <p:nvGrpSpPr>
          <p:cNvPr id="2" name="组合 1"/>
          <p:cNvGrpSpPr/>
          <p:nvPr>
            <p:custDataLst>
              <p:tags r:id="rId16"/>
            </p:custDataLst>
          </p:nvPr>
        </p:nvGrpSpPr>
        <p:grpSpPr>
          <a:xfrm>
            <a:off x="5535809" y="5108471"/>
            <a:ext cx="1381373" cy="660400"/>
            <a:chOff x="5519936" y="1488468"/>
            <a:chExt cx="1381373" cy="6604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0" name="平行四边形 19"/>
            <p:cNvSpPr/>
            <p:nvPr>
              <p:custDataLst>
                <p:tags r:id="rId17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文本框 20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597600" y="1541909"/>
              <a:ext cx="1086759" cy="583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rPr>
                <a:t>04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22" name="文本框 6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7423785" y="4964430"/>
            <a:ext cx="16052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代码框架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任务说明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2156111" y="4424107"/>
            <a:ext cx="6088996" cy="1129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>
                <a:solidFill>
                  <a:schemeClr val="tx2">
                    <a:alpha val="85098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系统梳理本次研究的背景与现实意义，明确研究目标与核心问题，拆解具体执行任务，为后续工作奠定理论与方向基础。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alpha val="85098"/>
                </a:schemeClr>
              </a:solidFill>
              <a:effectLst/>
              <a:uLnTx/>
              <a:uFillTx/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30" y="933413"/>
            <a:ext cx="5304765" cy="5287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研究背景与动机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JUNE 12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64530" y="1635398"/>
            <a:ext cx="11513006" cy="4220755"/>
          </a:xfrm>
          <a:prstGeom prst="rect">
            <a:avLst/>
          </a:prstGeom>
          <a:solidFill>
            <a:srgbClr val="024282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AutoShape 6"/>
          <p:cNvSpPr/>
          <p:nvPr>
            <p:custDataLst>
              <p:tags r:id="rId1"/>
            </p:custDataLst>
          </p:nvPr>
        </p:nvSpPr>
        <p:spPr>
          <a:xfrm>
            <a:off x="635000" y="1606550"/>
            <a:ext cx="5461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1733550"/>
            <a:ext cx="609600" cy="609600"/>
          </a:xfrm>
          <a:prstGeom prst="rect">
            <a:avLst/>
          </a:prstGeom>
        </p:spPr>
      </p:pic>
      <p:sp>
        <p:nvSpPr>
          <p:cNvPr id="9" name="AutoShape 8"/>
          <p:cNvSpPr/>
          <p:nvPr>
            <p:custDataLst>
              <p:tags r:id="rId5"/>
            </p:custDataLst>
          </p:nvPr>
        </p:nvSpPr>
        <p:spPr>
          <a:xfrm>
            <a:off x="1524000" y="175895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宇宙加速膨胀的颠覆性发现</a:t>
            </a:r>
            <a:endParaRPr lang="en-US" sz="2000" b="1" i="0" u="none" strike="noStrike">
              <a:solidFill>
                <a:schemeClr val="tx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9"/>
          <p:cNvCxnSpPr/>
          <p:nvPr>
            <p:custDataLst>
              <p:tags r:id="rId6"/>
            </p:custDataLst>
          </p:nvPr>
        </p:nvCxnSpPr>
        <p:spPr>
          <a:xfrm rot="-8814">
            <a:off x="762008" y="2616200"/>
            <a:ext cx="4953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0"/>
          <p:cNvSpPr/>
          <p:nvPr>
            <p:custDataLst>
              <p:tags r:id="rId7"/>
            </p:custDataLst>
          </p:nvPr>
        </p:nvSpPr>
        <p:spPr>
          <a:xfrm>
            <a:off x="762000" y="2876550"/>
            <a:ext cx="4953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chemeClr val="tx2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1998年，天文学家通过对高红移Ia型超新星的系统观测，获得了震撼科学界的结论：宇宙并非如传统理论预测的那样减速膨胀，而是处于</a:t>
            </a:r>
            <a:r>
              <a:rPr lang="en-US" sz="1500" b="1" i="0" u="none" strike="noStrike">
                <a:solidFill>
                  <a:schemeClr val="tx2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加速膨胀</a:t>
            </a:r>
            <a:r>
              <a:rPr lang="en-US" sz="1500" b="0" i="0" u="none" strike="noStrike">
                <a:solidFill>
                  <a:schemeClr val="tx2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的状态。这一发现彻底颠覆了人类对宇宙演化的认知，并暗示了宇宙中存在一种未知的、具有排斥引力性质的能量形式——</a:t>
            </a:r>
            <a:r>
              <a:rPr lang="en-US" sz="1500" b="1" i="0" u="none" strike="noStrike">
                <a:solidFill>
                  <a:schemeClr val="tx2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“暗能量”</a:t>
            </a:r>
            <a:r>
              <a:rPr lang="en-US" sz="1500" b="0" i="0" u="none" strike="noStrike">
                <a:solidFill>
                  <a:schemeClr val="tx2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，它被认为是推动宇宙加速膨胀的核心动力。</a:t>
            </a:r>
            <a:endParaRPr lang="en-US" sz="1500" b="0" i="0" u="none" strike="noStrike">
              <a:solidFill>
                <a:schemeClr val="tx2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1"/>
          <p:cNvSpPr/>
          <p:nvPr>
            <p:custDataLst>
              <p:tags r:id="rId8"/>
            </p:custDataLst>
          </p:nvPr>
        </p:nvSpPr>
        <p:spPr>
          <a:xfrm>
            <a:off x="762000" y="509905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chemeClr val="tx2">
                    <a:alpha val="6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该发现荣获2011年诺贝尔物理学奖，成为现代宇宙学的重要里程碑。</a:t>
            </a:r>
            <a:endParaRPr lang="en-US" sz="1300" b="0" i="0" u="none" strike="noStrike">
              <a:solidFill>
                <a:schemeClr val="tx2">
                  <a:alpha val="6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2"/>
          <p:cNvSpPr/>
          <p:nvPr>
            <p:custDataLst>
              <p:tags r:id="rId9"/>
            </p:custDataLst>
          </p:nvPr>
        </p:nvSpPr>
        <p:spPr>
          <a:xfrm>
            <a:off x="6223000" y="1479550"/>
            <a:ext cx="5461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1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1733550"/>
            <a:ext cx="609600" cy="609600"/>
          </a:xfrm>
          <a:prstGeom prst="rect">
            <a:avLst/>
          </a:prstGeom>
        </p:spPr>
      </p:pic>
      <p:sp>
        <p:nvSpPr>
          <p:cNvPr id="26" name="AutoShape 14"/>
          <p:cNvSpPr/>
          <p:nvPr>
            <p:custDataLst>
              <p:tags r:id="rId13"/>
            </p:custDataLst>
          </p:nvPr>
        </p:nvSpPr>
        <p:spPr>
          <a:xfrm>
            <a:off x="7239000" y="175895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Ia型超新星：宇宙的“标准烛光”</a:t>
            </a:r>
            <a:endParaRPr lang="en-US" sz="2000" b="1" i="0" u="none" strike="noStrike">
              <a:solidFill>
                <a:schemeClr val="tx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7" name="Connector 15"/>
          <p:cNvCxnSpPr/>
          <p:nvPr>
            <p:custDataLst>
              <p:tags r:id="rId14"/>
            </p:custDataLst>
          </p:nvPr>
        </p:nvCxnSpPr>
        <p:spPr>
          <a:xfrm rot="-8814">
            <a:off x="6477008" y="2616200"/>
            <a:ext cx="4953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" name="AutoShape 16"/>
          <p:cNvSpPr/>
          <p:nvPr>
            <p:custDataLst>
              <p:tags r:id="rId15"/>
            </p:custDataLst>
          </p:nvPr>
        </p:nvSpPr>
        <p:spPr>
          <a:xfrm>
            <a:off x="6477000" y="2876550"/>
            <a:ext cx="4953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chemeClr val="tx2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Ia型超新星由白矮星吸积伴星物质达到钱德拉塞卡极限后爆炸形成，其爆发机制的一致性使其具有</a:t>
            </a:r>
            <a:r>
              <a:rPr lang="en-US" sz="1500" b="1" i="0" u="none" strike="noStrike">
                <a:solidFill>
                  <a:schemeClr val="tx2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稳定的峰值光度</a:t>
            </a:r>
            <a:r>
              <a:rPr lang="en-US" sz="1500" b="0" i="0" u="none" strike="noStrike">
                <a:solidFill>
                  <a:schemeClr val="tx2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。天文学家利用这一特性，将其作为宇宙中的“标准烛光”，通过测量其视星等与绝对星等的差值，精确计算天体的距离，从而反推宇宙在不同历史时期的膨胀速率与时空结构。</a:t>
            </a:r>
            <a:endParaRPr lang="en-US" sz="1500" b="0" i="0" u="none" strike="noStrike">
              <a:solidFill>
                <a:schemeClr val="tx2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3" name="AutoShape 17"/>
          <p:cNvSpPr/>
          <p:nvPr>
            <p:custDataLst>
              <p:tags r:id="rId16"/>
            </p:custDataLst>
          </p:nvPr>
        </p:nvSpPr>
        <p:spPr>
          <a:xfrm>
            <a:off x="6477000" y="509905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chemeClr val="tx2">
                    <a:alpha val="6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它是人类目前丈量宇宙大尺度结构最可靠的工具之一，为暗能量研究提供了关键观测依据。</a:t>
            </a:r>
            <a:endParaRPr lang="en-US" sz="1300" b="0" i="0" u="none" strike="noStrike">
              <a:solidFill>
                <a:schemeClr val="tx2">
                  <a:alpha val="6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0448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508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4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研究目标与具体任务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906">
            <a:off x="508004" y="13906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488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508000" y="1905000"/>
            <a:ext cx="3556000" cy="3683000"/>
          </a:xfrm>
          <a:prstGeom prst="roundRect">
            <a:avLst>
              <a:gd name="adj" fmla="val 0"/>
            </a:avLst>
          </a:prstGeom>
          <a:solidFill>
            <a:srgbClr val="004488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1905000"/>
            <a:ext cx="3556000" cy="76200"/>
          </a:xfrm>
          <a:prstGeom prst="roundRect">
            <a:avLst>
              <a:gd name="adj" fmla="val 0"/>
            </a:avLst>
          </a:prstGeom>
          <a:solidFill>
            <a:srgbClr val="00448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22860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311400"/>
            <a:ext cx="228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4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总体研究目标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323">
            <a:off x="762013" y="31686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488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62000" y="3429000"/>
            <a:ext cx="304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充分利用Ia型超新星的观测数据，结合现代宇宙学理论框架，构建可靠的统计模型，精确推断描述我们宇宙演化的关键基本参数，为理解宇宙的加速膨胀机制提供坚实的数据支撑。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08000" y="5842000"/>
            <a:ext cx="3556000" cy="762000"/>
          </a:xfrm>
          <a:prstGeom prst="roundRect">
            <a:avLst>
              <a:gd name="adj" fmla="val 0"/>
            </a:avLst>
          </a:prstGeom>
          <a:solidFill>
            <a:srgbClr val="004488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35000" y="5943600"/>
            <a:ext cx="330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核心价值：突破传统平直宇宙假设，探索宇宙时空的真实几何属性与能量组分构成。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90177">
            <a:off x="2349500" y="4121159"/>
            <a:ext cx="444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953000" y="1905000"/>
            <a:ext cx="3365500" cy="2095500"/>
          </a:xfrm>
          <a:prstGeom prst="roundRect">
            <a:avLst>
              <a:gd name="adj" fmla="val 0"/>
            </a:avLst>
          </a:prstGeom>
          <a:solidFill>
            <a:srgbClr val="004488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953000" y="1905000"/>
            <a:ext cx="50800" cy="2095500"/>
          </a:xfrm>
          <a:prstGeom prst="roundRect">
            <a:avLst>
              <a:gd name="adj" fmla="val 0"/>
            </a:avLst>
          </a:prstGeom>
          <a:solidFill>
            <a:srgbClr val="005B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000" y="2095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715000" y="2095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模型框架设定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5278">
            <a:off x="5207014" y="2660650"/>
            <a:ext cx="2857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488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5207000" y="2857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在ΛCDM宇宙学模型的基础框架下开展研究，不预先假设宇宙是空间平直的，保留宇宙曲率作为自由参数，确保模型的普适性与客观性。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509000" y="1905000"/>
            <a:ext cx="3365500" cy="2095500"/>
          </a:xfrm>
          <a:prstGeom prst="roundRect">
            <a:avLst>
              <a:gd name="adj" fmla="val 0"/>
            </a:avLst>
          </a:prstGeom>
          <a:solidFill>
            <a:srgbClr val="004488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509000" y="1905000"/>
            <a:ext cx="50800" cy="2095500"/>
          </a:xfrm>
          <a:prstGeom prst="roundRect">
            <a:avLst>
              <a:gd name="adj" fmla="val 0"/>
            </a:avLst>
          </a:prstGeom>
          <a:solidFill>
            <a:srgbClr val="005B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63000" y="20955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271000" y="2095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统计方法应用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5278">
            <a:off x="8763014" y="2660650"/>
            <a:ext cx="2857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488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763000" y="2857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采用先进的贝叶斯推断理论，结合马尔可夫链蒙特卡洛（MCMC）方法，使用emcee库实现参数的高效采样，以处理复杂的后验分布求解问题。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953000" y="4318000"/>
            <a:ext cx="3365500" cy="2095500"/>
          </a:xfrm>
          <a:prstGeom prst="roundRect">
            <a:avLst>
              <a:gd name="adj" fmla="val 0"/>
            </a:avLst>
          </a:prstGeom>
          <a:solidFill>
            <a:srgbClr val="004488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4953000" y="4318000"/>
            <a:ext cx="50800" cy="2095500"/>
          </a:xfrm>
          <a:prstGeom prst="roundRect">
            <a:avLst>
              <a:gd name="adj" fmla="val 0"/>
            </a:avLst>
          </a:prstGeom>
          <a:solidFill>
            <a:srgbClr val="005B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07000" y="45085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5715000" y="4508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关键参数估计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15278">
            <a:off x="5207014" y="5073650"/>
            <a:ext cx="2857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488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5207000" y="5270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通过MCMC采样结果，精确估计物质密度参数Ωm和暗能量密度参数ΩΛ的后验概率分布，量化参数的不确定性范围，确定其置信区间。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509000" y="4318000"/>
            <a:ext cx="3365500" cy="2095500"/>
          </a:xfrm>
          <a:prstGeom prst="roundRect">
            <a:avLst>
              <a:gd name="adj" fmla="val 0"/>
            </a:avLst>
          </a:prstGeom>
          <a:solidFill>
            <a:srgbClr val="004488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8509000" y="4318000"/>
            <a:ext cx="50800" cy="2095500"/>
          </a:xfrm>
          <a:prstGeom prst="roundRect">
            <a:avLst>
              <a:gd name="adj" fmla="val 0"/>
            </a:avLst>
          </a:prstGeom>
          <a:solidFill>
            <a:srgbClr val="005B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63000" y="4508500"/>
            <a:ext cx="406400" cy="4064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9271000" y="4508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结果交叉验证</a:t>
            </a:r>
            <a:endParaRPr lang="en-US" sz="1100"/>
          </a:p>
        </p:txBody>
      </p:sp>
      <p:cxnSp>
        <p:nvCxnSpPr>
          <p:cNvPr id="36" name="Connector 36"/>
          <p:cNvCxnSpPr/>
          <p:nvPr/>
        </p:nvCxnSpPr>
        <p:spPr>
          <a:xfrm rot="-15278">
            <a:off x="8763014" y="5073650"/>
            <a:ext cx="2857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488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37"/>
          <p:cNvSpPr/>
          <p:nvPr/>
        </p:nvSpPr>
        <p:spPr>
          <a:xfrm>
            <a:off x="8763000" y="5270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将MCMC方法得到的参数估计结果，与经典的最小二乘法结果进行系统对比分析，验证贝叶斯方法在处理宇宙学参数推断时的优越性与可靠性。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02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任务完成情况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2156111" y="4424107"/>
            <a:ext cx="6088996" cy="783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>
                <a:solidFill>
                  <a:schemeClr val="tx2">
                    <a:alpha val="85098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阐述采用的研究方法与技术路径，展示核心实验数据与成果分析，归纳关键结论，验证研究方案的可行性与有效性。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alpha val="85098"/>
                </a:schemeClr>
              </a:solidFill>
              <a:effectLst/>
              <a:uLnTx/>
              <a:uFillTx/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30" y="933413"/>
            <a:ext cx="5304765" cy="5287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09600" y="609600"/>
            <a:ext cx="1097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整体工作流程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978">
            <a:off x="609604" y="1517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609600" y="2159000"/>
            <a:ext cx="3454400" cy="3302000"/>
          </a:xfrm>
          <a:prstGeom prst="roundRect">
            <a:avLst>
              <a:gd name="adj" fmla="val 0"/>
            </a:avLst>
          </a:prstGeom>
          <a:solidFill>
            <a:srgbClr val="003366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09600" y="2159000"/>
            <a:ext cx="3454400" cy="76200"/>
          </a:xfrm>
          <a:prstGeom prst="roundRect">
            <a:avLst>
              <a:gd name="adj" fmla="val 0"/>
            </a:avLst>
          </a:prstGeom>
          <a:solidFill>
            <a:srgbClr val="0052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600" y="2476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438400"/>
            <a:ext cx="228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数据加载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817">
            <a:off x="863614" y="3295650"/>
            <a:ext cx="294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863600" y="3556000"/>
            <a:ext cx="2946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</a:t>
            </a:r>
            <a:r>
              <a:rPr lang="en-US" sz="1400" b="1" i="0" u="none" strike="noStrike">
                <a:solidFill>
                  <a:srgbClr val="0052A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data_utils.py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脚本完成超新星观测数据的标准化读取与预处理，对样本数据进行清洗、校准与格式转换，为后续宇宙学参数计算提供高质量、规范化的输入数据源。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68800" y="2159000"/>
            <a:ext cx="3454400" cy="3302000"/>
          </a:xfrm>
          <a:prstGeom prst="roundRect">
            <a:avLst>
              <a:gd name="adj" fmla="val 0"/>
            </a:avLst>
          </a:prstGeom>
          <a:solidFill>
            <a:srgbClr val="003366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68800" y="2159000"/>
            <a:ext cx="3454400" cy="76200"/>
          </a:xfrm>
          <a:prstGeom prst="roundRect">
            <a:avLst>
              <a:gd name="adj" fmla="val 0"/>
            </a:avLst>
          </a:prstGeom>
          <a:solidFill>
            <a:srgbClr val="0052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2800" y="2476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283200" y="2438400"/>
            <a:ext cx="228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理论模型实现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817">
            <a:off x="4622814" y="3295650"/>
            <a:ext cx="294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22800" y="3556000"/>
            <a:ext cx="2946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在核心模块</a:t>
            </a:r>
            <a:r>
              <a:rPr lang="en-US" sz="1400" b="1" i="0" u="none" strike="noStrike">
                <a:solidFill>
                  <a:srgbClr val="0052A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cosmology.py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中，构建从宇宙学基本参数（如哈勃常数、暗能量状态方程）到距离模数的完整计算链路，实现理论预测值与观测数据的精准映射，夯实模型基础。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0" y="2159000"/>
            <a:ext cx="3454400" cy="3302000"/>
          </a:xfrm>
          <a:prstGeom prst="roundRect">
            <a:avLst>
              <a:gd name="adj" fmla="val 0"/>
            </a:avLst>
          </a:prstGeom>
          <a:solidFill>
            <a:srgbClr val="003366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128000" y="2159000"/>
            <a:ext cx="3454400" cy="76200"/>
          </a:xfrm>
          <a:prstGeom prst="roundRect">
            <a:avLst>
              <a:gd name="adj" fmla="val 0"/>
            </a:avLst>
          </a:prstGeom>
          <a:solidFill>
            <a:srgbClr val="0052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4765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042400" y="2438400"/>
            <a:ext cx="228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拟合方法执行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4817">
            <a:off x="8382014" y="3295650"/>
            <a:ext cx="294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382000" y="3556000"/>
            <a:ext cx="2946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通过总控脚本</a:t>
            </a:r>
            <a:r>
              <a:rPr lang="en-US" sz="1400" b="1" i="0" u="none" strike="noStrike">
                <a:solidFill>
                  <a:srgbClr val="0052A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run_all.py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实现全流程自动化调度，一键式并行执行 2D MCMC 马尔可夫链蒙特卡洛拟合与最小二乘拟合，高效完成参数估计与结果收敛分析。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09600" y="5842000"/>
            <a:ext cx="10972800" cy="635000"/>
          </a:xfrm>
          <a:prstGeom prst="roundRect">
            <a:avLst>
              <a:gd name="adj" fmla="val 0"/>
            </a:avLst>
          </a:prstGeom>
          <a:solidFill>
            <a:srgbClr val="0052A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63600" y="5943600"/>
            <a:ext cx="104648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流程总结：从标准化数据加载出发，依托严谨的宇宙学理论模型，通过自动化拟合脚本实现高效、可复现的科学计算闭环。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1A458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508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A45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核心成果：参数后验分布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906">
            <a:off x="508004" y="12636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458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 descr="C:/Users/HUAWEI/Desktop/微信图片_20260701194523_659_8.png微信图片_20260701194523_659_8"/>
          <p:cNvPicPr>
            <a:picLocks noChangeAspect="1"/>
          </p:cNvPicPr>
          <p:nvPr/>
        </p:nvPicPr>
        <p:blipFill>
          <a:blip r:embed="rId1"/>
          <a:srcRect t="739" b="1611"/>
          <a:stretch>
            <a:fillRect/>
          </a:stretch>
        </p:blipFill>
        <p:spPr>
          <a:xfrm>
            <a:off x="508000" y="1397000"/>
            <a:ext cx="4572000" cy="446532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508000" y="5715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图示：宇宙学参数 Ωₘ、ΩΛ 和 μ₀ 的后验分布Corner图，直观呈现了参数间的统计关联与约束强度。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90450">
            <a:off x="3302000" y="4057659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2"/>
            </p:custDataLst>
          </p:nvPr>
        </p:nvSpPr>
        <p:spPr>
          <a:xfrm>
            <a:off x="5842000" y="1778000"/>
            <a:ext cx="5842000" cy="1397000"/>
          </a:xfrm>
          <a:prstGeom prst="roundRect">
            <a:avLst>
              <a:gd name="adj" fmla="val 0"/>
            </a:avLst>
          </a:prstGeom>
          <a:solidFill>
            <a:srgbClr val="1A4585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2500" y="1968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6604000" y="1905000"/>
            <a:ext cx="488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A45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参数间显著的负相关性（简并）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Ωₘ（物质密度参数）与 ΩΛ（宇宙学常数）呈现出明显的负相关趋势，后验分布的等高线沿特定方向拉伸，表明单一参数的精确测量存在互补性约束。</a:t>
            </a:r>
            <a:endParaRPr lang="en-US" sz="13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5842000" y="3429000"/>
            <a:ext cx="5842000" cy="1397000"/>
          </a:xfrm>
          <a:prstGeom prst="roundRect">
            <a:avLst>
              <a:gd name="adj" fmla="val 0"/>
            </a:avLst>
          </a:prstGeom>
          <a:solidFill>
            <a:srgbClr val="1A4585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32500" y="3619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6604000" y="3556000"/>
            <a:ext cx="488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A45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几何平直性的有力证据：Ωₘ + ΩΛ = 1.10</a:t>
            </a:r>
            <a:r>
              <a:rPr lang="en-US" altLang="zh-CN" sz="1600" b="1" i="0" u="none" strike="noStrike">
                <a:solidFill>
                  <a:srgbClr val="1A45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±0.30</a:t>
            </a:r>
            <a:endParaRPr lang="en-US" altLang="zh-CN" sz="1600" b="1" i="0" u="none" strike="noStrike">
              <a:solidFill>
                <a:srgbClr val="1A458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后验分布集中在 Ωₘ + ΩΛ ≈ 1 的轨迹上，这与宇宙学标准模型中“宇宙空间几何为平直”的预言高度吻合，数据强有力地支持了平坦宇宙的假设。</a:t>
            </a:r>
            <a:endParaRPr lang="en-US" sz="13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5842000" y="5080000"/>
            <a:ext cx="5842000" cy="1270000"/>
          </a:xfrm>
          <a:prstGeom prst="roundRect">
            <a:avLst>
              <a:gd name="adj" fmla="val 0"/>
            </a:avLst>
          </a:prstGeom>
          <a:solidFill>
            <a:srgbClr val="1A4585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32500" y="5270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6604000" y="520700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A45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物理内涵的深化解读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尽管 Ωₘ 和 ΩΛ 各自的取值存在不确定性，但它们的总和被数据严格锚定在1附近，揭示了宇宙动力学中暗物质与暗能量的协同演化关系。</a:t>
            </a:r>
            <a:endParaRPr lang="en-US" sz="13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449685" y="2971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0"/>
          </a:xfrm>
          <a:prstGeom prst="roundRect">
            <a:avLst>
              <a:gd name="adj" fmla="val 0"/>
            </a:avLst>
          </a:prstGeom>
          <a:solidFill>
            <a:srgbClr val="15437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254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核心成果：参数估计结果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508000" y="1524000"/>
            <a:ext cx="5461000" cy="26670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508000" y="1524000"/>
            <a:ext cx="76200" cy="2667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5500" y="1778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651000" y="1778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5437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物质密度参数 (Ωm)</a:t>
            </a:r>
            <a:endParaRPr lang="en-US" sz="1100"/>
          </a:p>
        </p:txBody>
      </p:sp>
      <p:cxnSp>
        <p:nvCxnSpPr>
          <p:cNvPr id="8" name="Connector 8"/>
          <p:cNvCxnSpPr/>
          <p:nvPr>
            <p:custDataLst>
              <p:tags r:id="rId7"/>
            </p:custDataLst>
          </p:nvPr>
        </p:nvCxnSpPr>
        <p:spPr>
          <a:xfrm rot="-9046">
            <a:off x="825508" y="2660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825500" y="292100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0.31</a:t>
            </a:r>
            <a:r>
              <a:rPr lang="en-US" sz="16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</a:t>
            </a:r>
            <a:r>
              <a:rPr lang="en-US" sz="1600" b="0" i="0" u="none" strike="noStrike">
                <a:solidFill>
                  <a:srgbClr val="475569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＋</a:t>
            </a:r>
            <a:r>
              <a:rPr lang="en-US" sz="16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0.08 /</a:t>
            </a:r>
            <a:r>
              <a:rPr lang="en-US" sz="1600" b="0" i="0" u="none" strike="noStrike">
                <a:solidFill>
                  <a:srgbClr val="475569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－</a:t>
            </a:r>
            <a:r>
              <a:rPr lang="en-US" sz="16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0.07)</a:t>
            </a:r>
            <a:endParaRPr lang="en-US" altLang="zh-CN" sz="16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基于观测数据的后验分布提取，精确刻画了宇宙中物质组分的贡献占比，是宇宙学标准模型的关键基石。</a:t>
            </a:r>
            <a:endParaRPr lang="en-US" sz="14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6223000" y="1524000"/>
            <a:ext cx="5461000" cy="26670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6223000" y="1524000"/>
            <a:ext cx="76200" cy="2667000"/>
          </a:xfrm>
          <a:prstGeom prst="roundRect">
            <a:avLst>
              <a:gd name="adj" fmla="val 0"/>
            </a:avLst>
          </a:prstGeom>
          <a:solidFill>
            <a:srgbClr val="0EA5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40500" y="17780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7366000" y="1778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5437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暗能量密度参数 (ΩΛ)</a:t>
            </a:r>
            <a:endParaRPr lang="en-US" sz="1100"/>
          </a:p>
        </p:txBody>
      </p:sp>
      <p:cxnSp>
        <p:nvCxnSpPr>
          <p:cNvPr id="14" name="Connector 14"/>
          <p:cNvCxnSpPr/>
          <p:nvPr>
            <p:custDataLst>
              <p:tags r:id="rId15"/>
            </p:custDataLst>
          </p:nvPr>
        </p:nvCxnSpPr>
        <p:spPr>
          <a:xfrm rot="-9046">
            <a:off x="6540508" y="2660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6540500" y="292100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 i="0" u="none" strike="noStrike">
                <a:solidFill>
                  <a:srgbClr val="0EA5E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0.79</a:t>
            </a:r>
            <a:r>
              <a:rPr lang="en-US" sz="16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</a:t>
            </a:r>
            <a:r>
              <a:rPr lang="en-US" sz="1600">
                <a:solidFill>
                  <a:srgbClr val="475569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＋</a:t>
            </a:r>
            <a:r>
              <a:rPr lang="en-US" sz="160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0.27 /</a:t>
            </a:r>
            <a:r>
              <a:rPr lang="en-US" sz="1600">
                <a:solidFill>
                  <a:srgbClr val="475569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 panose="020B0200000000000000" charset="-122"/>
                <a:sym typeface="Noto Sans SC" panose="020B0200000000000000" charset="-122"/>
              </a:rPr>
              <a:t>－</a:t>
            </a:r>
            <a:r>
              <a:rPr lang="en-US" sz="160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0.18</a:t>
            </a:r>
            <a:r>
              <a:rPr lang="en-US" sz="16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反映了驱动宇宙加速膨胀的暗能量强度，其数值的精确测定为理解宇宙命运提供了核心观测依据。</a:t>
            </a:r>
            <a:endParaRPr lang="en-US" sz="14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508000" y="4572000"/>
            <a:ext cx="11176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2563E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08000" y="4572000"/>
            <a:ext cx="11176000" cy="76200"/>
          </a:xfrm>
          <a:prstGeom prst="roundRect">
            <a:avLst>
              <a:gd name="adj" fmla="val 0"/>
            </a:avLst>
          </a:prstGeom>
          <a:solidFill>
            <a:srgbClr val="15437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5500" y="4953000"/>
            <a:ext cx="711200" cy="711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905000" y="4826000"/>
            <a:ext cx="927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200" b="1" i="0" u="none" strike="noStrike">
                <a:solidFill>
                  <a:srgbClr val="15437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Ωm + ΩΛ = 1.10 ± 0.30，</a:t>
            </a:r>
            <a:r>
              <a:rPr lang="zh-CN" altLang="en-US" sz="2200" b="1" i="0" u="none" strike="noStrike">
                <a:solidFill>
                  <a:srgbClr val="15437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与平直宇宙预言在</a:t>
            </a:r>
            <a:r>
              <a:rPr lang="en-US" altLang="zh-CN" sz="2200" b="1" i="0" u="none" strike="noStrike">
                <a:solidFill>
                  <a:srgbClr val="15437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r>
              <a:rPr lang="en-US" altLang="zh-CN" sz="2200" b="1" i="0" u="none" strike="noStrike">
                <a:solidFill>
                  <a:srgbClr val="1543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σ</a:t>
            </a:r>
            <a:r>
              <a:rPr lang="zh-CN" altLang="en-US" sz="2200" b="1" i="0" u="none" strike="noStrike">
                <a:solidFill>
                  <a:srgbClr val="1543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范围内一致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观测结果显示总密度参数之和在1σ误差范围内与1高度一致，有力验证了ΛCDM模型中宇宙空间几何为平直的核心假设，为现代宇宙学的标准框架提供了坚实的实验支撑。</a:t>
            </a:r>
            <a:endParaRPr lang="en-US" sz="15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144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44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方法对比：MCMC vs. 最小二乘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906">
            <a:off x="508004" y="1517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448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508000" y="2032000"/>
            <a:ext cx="5524500" cy="2794000"/>
          </a:xfrm>
          <a:prstGeom prst="roundRect">
            <a:avLst>
              <a:gd name="adj" fmla="val 0"/>
            </a:avLst>
          </a:prstGeom>
          <a:solidFill>
            <a:srgbClr val="14448C">
              <a:alpha val="5000"/>
            </a:srgbClr>
          </a:solidFill>
          <a:ln w="12700" cap="flat" cmpd="sng">
            <a:solidFill>
              <a:srgbClr val="14448C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2032000"/>
            <a:ext cx="5524500" cy="609600"/>
          </a:xfrm>
          <a:prstGeom prst="roundRect">
            <a:avLst>
              <a:gd name="adj" fmla="val 0"/>
            </a:avLst>
          </a:prstGeom>
          <a:solidFill>
            <a:srgbClr val="14448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21590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06500" y="2133600"/>
            <a:ext cx="457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4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Ωₘ (物质密度参数)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762000" y="3048000"/>
            <a:ext cx="2349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889000" y="31750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MCMC (后验中位值)</a:t>
            </a:r>
            <a:endParaRPr lang="en-US" sz="1100"/>
          </a:p>
        </p:txBody>
      </p:sp>
      <p:cxnSp>
        <p:nvCxnSpPr>
          <p:cNvPr id="11" name="Connector 11"/>
          <p:cNvCxnSpPr/>
          <p:nvPr>
            <p:custDataLst>
              <p:tags r:id="rId5"/>
            </p:custDataLst>
          </p:nvPr>
        </p:nvCxnSpPr>
        <p:spPr>
          <a:xfrm rot="-20834">
            <a:off x="889019" y="3613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448C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889000" y="38100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44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0.31</a:t>
            </a:r>
            <a:endParaRPr lang="en-US" sz="1100"/>
          </a:p>
        </p:txBody>
      </p:sp>
      <p:cxnSp>
        <p:nvCxnSpPr>
          <p:cNvPr id="13" name="Connector 13"/>
          <p:cNvCxnSpPr/>
          <p:nvPr>
            <p:custDataLst>
              <p:tags r:id="rId7"/>
            </p:custDataLst>
          </p:nvPr>
        </p:nvCxnSpPr>
        <p:spPr>
          <a:xfrm rot="5368748">
            <a:off x="2565400" y="3740179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3429000" y="3048000"/>
            <a:ext cx="2349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3556000" y="31750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最小二乘 (点估计) / 差异</a:t>
            </a:r>
            <a:endParaRPr lang="en-US" sz="1100"/>
          </a:p>
        </p:txBody>
      </p:sp>
      <p:cxnSp>
        <p:nvCxnSpPr>
          <p:cNvPr id="16" name="Connector 16"/>
          <p:cNvCxnSpPr/>
          <p:nvPr>
            <p:custDataLst>
              <p:tags r:id="rId10"/>
            </p:custDataLst>
          </p:nvPr>
        </p:nvCxnSpPr>
        <p:spPr>
          <a:xfrm rot="-20834">
            <a:off x="3556019" y="3613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448C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>
            <p:custDataLst>
              <p:tags r:id="rId11"/>
            </p:custDataLst>
          </p:nvPr>
        </p:nvSpPr>
        <p:spPr>
          <a:xfrm>
            <a:off x="3556000" y="38100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0.31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86500" y="2032000"/>
            <a:ext cx="5524500" cy="2794000"/>
          </a:xfrm>
          <a:prstGeom prst="roundRect">
            <a:avLst>
              <a:gd name="adj" fmla="val 0"/>
            </a:avLst>
          </a:prstGeom>
          <a:solidFill>
            <a:srgbClr val="14448C">
              <a:alpha val="5000"/>
            </a:srgbClr>
          </a:solidFill>
          <a:ln w="12700" cap="flat" cmpd="sng">
            <a:solidFill>
              <a:srgbClr val="14448C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286500" y="2032000"/>
            <a:ext cx="5524500" cy="609600"/>
          </a:xfrm>
          <a:prstGeom prst="roundRect">
            <a:avLst>
              <a:gd name="adj" fmla="val 0"/>
            </a:avLst>
          </a:prstGeom>
          <a:solidFill>
            <a:srgbClr val="14448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21590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2133600"/>
            <a:ext cx="457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4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ΩΛ (暗能量密度参数)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14"/>
            </p:custDataLst>
          </p:nvPr>
        </p:nvSpPr>
        <p:spPr>
          <a:xfrm>
            <a:off x="6540500" y="3048000"/>
            <a:ext cx="2349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>
            <p:custDataLst>
              <p:tags r:id="rId15"/>
            </p:custDataLst>
          </p:nvPr>
        </p:nvSpPr>
        <p:spPr>
          <a:xfrm>
            <a:off x="6667500" y="31750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MCMC (后验中位值)</a:t>
            </a:r>
            <a:endParaRPr lang="en-US" sz="1100"/>
          </a:p>
        </p:txBody>
      </p:sp>
      <p:cxnSp>
        <p:nvCxnSpPr>
          <p:cNvPr id="24" name="Connector 24"/>
          <p:cNvCxnSpPr/>
          <p:nvPr>
            <p:custDataLst>
              <p:tags r:id="rId16"/>
            </p:custDataLst>
          </p:nvPr>
        </p:nvCxnSpPr>
        <p:spPr>
          <a:xfrm rot="-20834">
            <a:off x="6667519" y="3613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448C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>
            <p:custDataLst>
              <p:tags r:id="rId17"/>
            </p:custDataLst>
          </p:nvPr>
        </p:nvSpPr>
        <p:spPr>
          <a:xfrm>
            <a:off x="6667500" y="38100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44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0.79</a:t>
            </a:r>
            <a:endParaRPr lang="en-US" sz="1100"/>
          </a:p>
        </p:txBody>
      </p:sp>
      <p:cxnSp>
        <p:nvCxnSpPr>
          <p:cNvPr id="26" name="Connector 26"/>
          <p:cNvCxnSpPr/>
          <p:nvPr>
            <p:custDataLst>
              <p:tags r:id="rId18"/>
            </p:custDataLst>
          </p:nvPr>
        </p:nvCxnSpPr>
        <p:spPr>
          <a:xfrm rot="5368748">
            <a:off x="8343900" y="3740179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>
            <p:custDataLst>
              <p:tags r:id="rId19"/>
            </p:custDataLst>
          </p:nvPr>
        </p:nvSpPr>
        <p:spPr>
          <a:xfrm>
            <a:off x="9207500" y="3048000"/>
            <a:ext cx="2349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>
            <p:custDataLst>
              <p:tags r:id="rId20"/>
            </p:custDataLst>
          </p:nvPr>
        </p:nvSpPr>
        <p:spPr>
          <a:xfrm>
            <a:off x="9334500" y="31750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最小二乘 (点估计) / 差异</a:t>
            </a:r>
            <a:endParaRPr lang="en-US" sz="1100"/>
          </a:p>
        </p:txBody>
      </p:sp>
      <p:cxnSp>
        <p:nvCxnSpPr>
          <p:cNvPr id="29" name="Connector 29"/>
          <p:cNvCxnSpPr/>
          <p:nvPr>
            <p:custDataLst>
              <p:tags r:id="rId21"/>
            </p:custDataLst>
          </p:nvPr>
        </p:nvCxnSpPr>
        <p:spPr>
          <a:xfrm rot="-20834">
            <a:off x="9334519" y="3613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448C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>
            <p:custDataLst>
              <p:tags r:id="rId22"/>
            </p:custDataLst>
          </p:nvPr>
        </p:nvSpPr>
        <p:spPr>
          <a:xfrm>
            <a:off x="9334500" y="38100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0.79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508000" y="5207000"/>
            <a:ext cx="11303000" cy="1143000"/>
          </a:xfrm>
          <a:prstGeom prst="roundRect">
            <a:avLst>
              <a:gd name="adj" fmla="val 0"/>
            </a:avLst>
          </a:prstGeom>
          <a:solidFill>
            <a:srgbClr val="14448C">
              <a:alpha val="8000"/>
            </a:srgbClr>
          </a:solidFill>
          <a:ln w="12700" cap="flat" cmpd="sng">
            <a:solidFill>
              <a:srgbClr val="14448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62000" y="5461000"/>
            <a:ext cx="508000" cy="5080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1524000" y="5359400"/>
            <a:ext cx="10033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44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结果稳健性验证结论：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贝叶斯MCMC方法与频率学最小二乘法的估计结果在误差范围内高度一致，关键宇宙学参数的数值差异</a:t>
            </a:r>
            <a:r>
              <a:rPr lang="zh-CN" alt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极小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，充分表明研究结果不依赖于具体的统计方法选择，具有极高的稳健性与可信度。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03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物理意义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2156111" y="4424107"/>
            <a:ext cx="6088996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>
                <a:solidFill>
                  <a:schemeClr val="tx2">
                    <a:alpha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从后验分布的统计特征与模型拟合的定量结果出发，深度解读参数背后的科学内涵，揭示数据规律所反映的物理本质与实际应用价值。</a:t>
            </a:r>
            <a:endParaRPr lang="en-US">
              <a:solidFill>
                <a:schemeClr val="tx2"/>
              </a:solidFill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>
              <a:solidFill>
                <a:schemeClr val="tx2"/>
              </a:solidFill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 Light" panose="020F0302020204030204" pitchFamily="34" charset="0"/>
                <a:ea typeface="方正兰亭黑_GBK"/>
                <a:cs typeface="+mn-cs"/>
              </a:rPr>
              <a:t>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 Light" panose="020F0302020204030204" pitchFamily="34" charset="0"/>
              <a:ea typeface="方正兰亭黑_GBK"/>
              <a:cs typeface="+mn-cs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30" y="933413"/>
            <a:ext cx="5304765" cy="5287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accent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物理意义分析</a:t>
            </a:r>
            <a:endParaRPr lang="en-US" sz="3200" b="1" i="0" u="none" strike="noStrike">
              <a:solidFill>
                <a:schemeClr val="accent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4" name="Connector 3"/>
          <p:cNvCxnSpPr/>
          <p:nvPr/>
        </p:nvCxnSpPr>
        <p:spPr>
          <a:xfrm rot="-3906">
            <a:off x="508004" y="13906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accent1"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4"/>
          <p:cNvSpPr/>
          <p:nvPr>
            <p:custDataLst>
              <p:tags r:id="rId1"/>
            </p:custDataLst>
          </p:nvPr>
        </p:nvSpPr>
        <p:spPr>
          <a:xfrm>
            <a:off x="508000" y="1905000"/>
            <a:ext cx="3556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2159000"/>
            <a:ext cx="508000" cy="508000"/>
          </a:xfrm>
          <a:prstGeom prst="rect">
            <a:avLst/>
          </a:prstGeom>
        </p:spPr>
      </p:pic>
      <p:sp>
        <p:nvSpPr>
          <p:cNvPr id="27" name="AutoShape 6"/>
          <p:cNvSpPr/>
          <p:nvPr>
            <p:custDataLst>
              <p:tags r:id="rId5"/>
            </p:custDataLst>
          </p:nvPr>
        </p:nvSpPr>
        <p:spPr>
          <a:xfrm>
            <a:off x="1397000" y="2159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宇宙构成的定量解读</a:t>
            </a:r>
            <a:endParaRPr lang="en-US" sz="2000" b="1" i="0" u="none" strike="noStrike">
              <a:solidFill>
                <a:schemeClr val="accent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8" name="Connector 7"/>
          <p:cNvCxnSpPr/>
          <p:nvPr>
            <p:custDataLst>
              <p:tags r:id="rId6"/>
            </p:custDataLst>
          </p:nvPr>
        </p:nvCxnSpPr>
        <p:spPr>
          <a:xfrm rot="-14323">
            <a:off x="762013" y="29146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" name="AutoShape 8"/>
          <p:cNvSpPr/>
          <p:nvPr>
            <p:custDataLst>
              <p:tags r:id="rId7"/>
            </p:custDataLst>
          </p:nvPr>
        </p:nvSpPr>
        <p:spPr>
          <a:xfrm>
            <a:off x="698500" y="3175000"/>
            <a:ext cx="3175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chemeClr val="accent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观测结果定量揭示了宇宙的组分构成：约30%为物质（包含普通物质与暗物质），而70%由暗能量主导。暗能量的负压特性是驱动当前宇宙加速膨胀的核心动力，重塑了我们对宇宙演化命运的认知。</a:t>
            </a:r>
            <a:endParaRPr lang="en-US" sz="1400" b="0" i="0" u="none" strike="noStrike">
              <a:solidFill>
                <a:schemeClr val="accent1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9"/>
          <p:cNvSpPr/>
          <p:nvPr>
            <p:custDataLst>
              <p:tags r:id="rId8"/>
            </p:custDataLst>
          </p:nvPr>
        </p:nvSpPr>
        <p:spPr>
          <a:xfrm>
            <a:off x="4318000" y="1905000"/>
            <a:ext cx="3556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72000" y="2159000"/>
            <a:ext cx="508000" cy="508000"/>
          </a:xfrm>
          <a:prstGeom prst="rect">
            <a:avLst/>
          </a:prstGeom>
        </p:spPr>
      </p:pic>
      <p:sp>
        <p:nvSpPr>
          <p:cNvPr id="32" name="AutoShape 11"/>
          <p:cNvSpPr/>
          <p:nvPr>
            <p:custDataLst>
              <p:tags r:id="rId12"/>
            </p:custDataLst>
          </p:nvPr>
        </p:nvSpPr>
        <p:spPr>
          <a:xfrm>
            <a:off x="5207000" y="2159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宇宙几何的关键验证</a:t>
            </a:r>
            <a:endParaRPr lang="en-US" sz="2000" b="1" i="0" u="none" strike="noStrike">
              <a:solidFill>
                <a:schemeClr val="accent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3" name="Connector 12"/>
          <p:cNvCxnSpPr/>
          <p:nvPr>
            <p:custDataLst>
              <p:tags r:id="rId13"/>
            </p:custDataLst>
          </p:nvPr>
        </p:nvCxnSpPr>
        <p:spPr>
          <a:xfrm rot="-14323">
            <a:off x="4572013" y="29146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4" name="AutoShape 13"/>
          <p:cNvSpPr/>
          <p:nvPr>
            <p:custDataLst>
              <p:tags r:id="rId14"/>
            </p:custDataLst>
          </p:nvPr>
        </p:nvSpPr>
        <p:spPr>
          <a:xfrm>
            <a:off x="4508500" y="3175000"/>
            <a:ext cx="3175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chemeClr val="accent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宇宙学参数满足关系</a:t>
            </a:r>
            <a:r>
              <a:rPr lang="en-US" sz="1600" b="1" i="0" u="none" strike="noStrike">
                <a:solidFill>
                  <a:schemeClr val="accent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Ωₘ + Ω_Λ ≈ 1</a:t>
            </a:r>
            <a:r>
              <a:rPr lang="en-US" sz="1400" b="0" i="0" u="none" strike="noStrike">
                <a:solidFill>
                  <a:schemeClr val="accent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，这是宇宙空间为“平直”几何的强有力观测证据，完美契合宇宙学标准模型中关于空间曲率趋近于零的理论预言，是宇宙学研究的重要里程碑。</a:t>
            </a:r>
            <a:endParaRPr lang="en-US" sz="1400" b="0" i="0" u="none" strike="noStrike">
              <a:solidFill>
                <a:schemeClr val="accent1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14"/>
          <p:cNvSpPr/>
          <p:nvPr>
            <p:custDataLst>
              <p:tags r:id="rId15"/>
            </p:custDataLst>
          </p:nvPr>
        </p:nvSpPr>
        <p:spPr>
          <a:xfrm>
            <a:off x="8128000" y="1905000"/>
            <a:ext cx="3556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15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382000" y="2159000"/>
            <a:ext cx="508000" cy="508000"/>
          </a:xfrm>
          <a:prstGeom prst="rect">
            <a:avLst/>
          </a:prstGeom>
        </p:spPr>
      </p:pic>
      <p:sp>
        <p:nvSpPr>
          <p:cNvPr id="37" name="AutoShape 16"/>
          <p:cNvSpPr/>
          <p:nvPr>
            <p:custDataLst>
              <p:tags r:id="rId19"/>
            </p:custDataLst>
          </p:nvPr>
        </p:nvSpPr>
        <p:spPr>
          <a:xfrm>
            <a:off x="9017000" y="2159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参数简并性的科学启示</a:t>
            </a:r>
            <a:endParaRPr lang="en-US" sz="2000" b="1" i="0" u="none" strike="noStrike">
              <a:solidFill>
                <a:schemeClr val="accent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8" name="Connector 17"/>
          <p:cNvCxnSpPr/>
          <p:nvPr>
            <p:custDataLst>
              <p:tags r:id="rId20"/>
            </p:custDataLst>
          </p:nvPr>
        </p:nvCxnSpPr>
        <p:spPr>
          <a:xfrm rot="-14323">
            <a:off x="8382013" y="29146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9" name="AutoShape 18"/>
          <p:cNvSpPr/>
          <p:nvPr>
            <p:custDataLst>
              <p:tags r:id="rId21"/>
            </p:custDataLst>
          </p:nvPr>
        </p:nvSpPr>
        <p:spPr>
          <a:xfrm>
            <a:off x="8318500" y="3175000"/>
            <a:ext cx="3175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chemeClr val="accent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依靠超新星Ia数据，难以同时精确区分物质密度参数Ωₘ与暗能量参数Ω_Λ，存在严重的参数简并问题。这启示我们必须结合宇宙微波背景（CMB）、重子声学振荡（BAO）等多信使观测，才能打破简并，实现宇宙学参数的精确测量。</a:t>
            </a:r>
            <a:endParaRPr lang="en-US" sz="1400" b="0" i="0" u="none" strike="noStrike">
              <a:solidFill>
                <a:schemeClr val="accent1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0" name="AutoShape 19"/>
          <p:cNvSpPr/>
          <p:nvPr/>
        </p:nvSpPr>
        <p:spPr>
          <a:xfrm>
            <a:off x="508000" y="58420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64B4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20"/>
          <p:cNvSpPr/>
          <p:nvPr/>
        </p:nvSpPr>
        <p:spPr>
          <a:xfrm>
            <a:off x="698500" y="5969000"/>
            <a:ext cx="1079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accent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核心结论：</a:t>
            </a:r>
            <a:r>
              <a:rPr lang="en-US" sz="1400" b="0" i="0" u="none" strike="noStrike">
                <a:solidFill>
                  <a:schemeClr val="accent1">
                    <a:alpha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宇宙由暗能量主导且呈平直几何，多观测手段的联合是精确宇宙学的必由之路。</a:t>
            </a:r>
            <a:endParaRPr lang="en-US" sz="1400" b="0" i="0" u="none" strike="noStrike">
              <a:solidFill>
                <a:schemeClr val="accent1">
                  <a:alpha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2" name="AutoShape 4"/>
          <p:cNvSpPr/>
          <p:nvPr>
            <p:custDataLst>
              <p:tags r:id="rId22"/>
            </p:custDataLst>
          </p:nvPr>
        </p:nvSpPr>
        <p:spPr>
          <a:xfrm>
            <a:off x="550545" y="1983105"/>
            <a:ext cx="3556000" cy="3683000"/>
          </a:xfrm>
          <a:prstGeom prst="roundRect">
            <a:avLst>
              <a:gd name="adj" fmla="val 0"/>
            </a:avLst>
          </a:prstGeom>
          <a:solidFill>
            <a:schemeClr val="tx2">
              <a:lumMod val="60000"/>
              <a:lumOff val="40000"/>
              <a:alpha val="14000"/>
            </a:scheme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AutoShape 4"/>
          <p:cNvSpPr/>
          <p:nvPr>
            <p:custDataLst>
              <p:tags r:id="rId23"/>
            </p:custDataLst>
          </p:nvPr>
        </p:nvSpPr>
        <p:spPr>
          <a:xfrm>
            <a:off x="4434205" y="1983105"/>
            <a:ext cx="3556000" cy="3683000"/>
          </a:xfrm>
          <a:prstGeom prst="roundRect">
            <a:avLst>
              <a:gd name="adj" fmla="val 0"/>
            </a:avLst>
          </a:prstGeom>
          <a:solidFill>
            <a:schemeClr val="tx2">
              <a:lumMod val="60000"/>
              <a:lumOff val="40000"/>
              <a:alpha val="14000"/>
            </a:scheme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4"/>
          <p:cNvSpPr/>
          <p:nvPr>
            <p:custDataLst>
              <p:tags r:id="rId24"/>
            </p:custDataLst>
          </p:nvPr>
        </p:nvSpPr>
        <p:spPr>
          <a:xfrm>
            <a:off x="8255000" y="1983105"/>
            <a:ext cx="3556000" cy="3683000"/>
          </a:xfrm>
          <a:prstGeom prst="roundRect">
            <a:avLst>
              <a:gd name="adj" fmla="val 0"/>
            </a:avLst>
          </a:prstGeom>
          <a:solidFill>
            <a:schemeClr val="tx2">
              <a:lumMod val="60000"/>
              <a:lumOff val="40000"/>
              <a:alpha val="14000"/>
            </a:scheme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04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代码</a:t>
            </a: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架构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2156111" y="4424107"/>
            <a:ext cx="6088996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>
                <a:solidFill>
                  <a:schemeClr val="tx2">
                    <a:alpha val="85098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详解研究所用代码的整体架构设计，剖析核心功能模块的逻辑与实现，梳理模块间的调用关系，为成果复现提供技术支撑。</a:t>
            </a:r>
            <a:endParaRPr lang="en-US">
              <a:solidFill>
                <a:schemeClr val="tx2"/>
              </a:solidFill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 Light" panose="020F0302020204030204" pitchFamily="34" charset="0"/>
                <a:ea typeface="方正兰亭黑_GBK"/>
                <a:cs typeface="+mn-cs"/>
              </a:rPr>
              <a:t>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 Light" panose="020F0302020204030204" pitchFamily="34" charset="0"/>
              <a:ea typeface="方正兰亭黑_GBK"/>
              <a:cs typeface="+mn-cs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30" y="933413"/>
            <a:ext cx="5304765" cy="5287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052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508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2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代码整体架构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906">
            <a:off x="508004" y="1390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52A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508000" y="1905000"/>
            <a:ext cx="2603500" cy="30480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12700" cap="flat" cmpd="sng">
            <a:solidFill>
              <a:srgbClr val="0052A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1905000"/>
            <a:ext cx="2603500" cy="76200"/>
          </a:xfrm>
          <a:prstGeom prst="roundRect">
            <a:avLst>
              <a:gd name="adj" fmla="val 0"/>
            </a:avLst>
          </a:prstGeom>
          <a:solidFill>
            <a:srgbClr val="0052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22225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70000" y="2222500"/>
            <a:ext cx="1714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9644">
            <a:off x="698518" y="2914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52A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35000" y="3175000"/>
            <a:ext cx="2349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52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核心文件：data_utils.py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负责实验数据的加载、清洗、预处理与标准化，为后续模型计算提供统一、规范的输入数据接口。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3365500" y="1905000"/>
            <a:ext cx="2603500" cy="30480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12700" cap="flat" cmpd="sng">
            <a:solidFill>
              <a:srgbClr val="0052A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365500" y="1905000"/>
            <a:ext cx="2603500" cy="76200"/>
          </a:xfrm>
          <a:prstGeom prst="roundRect">
            <a:avLst>
              <a:gd name="adj" fmla="val 0"/>
            </a:avLst>
          </a:prstGeom>
          <a:solidFill>
            <a:srgbClr val="0052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6000" y="22225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127500" y="2222500"/>
            <a:ext cx="1714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9644">
            <a:off x="3556018" y="2914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52A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3492500" y="3175000"/>
            <a:ext cx="2349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52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核心文件：cosmology.py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封装宇宙学理论模型的核心计算逻辑，实现理论预测值的快速求解，是连接数据与算法的关键桥梁。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3000" y="1905000"/>
            <a:ext cx="2603500" cy="30480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12700" cap="flat" cmpd="sng">
            <a:solidFill>
              <a:srgbClr val="0052A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223000" y="1905000"/>
            <a:ext cx="2603500" cy="76200"/>
          </a:xfrm>
          <a:prstGeom prst="roundRect">
            <a:avLst>
              <a:gd name="adj" fmla="val 0"/>
            </a:avLst>
          </a:prstGeom>
          <a:solidFill>
            <a:srgbClr val="0052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22225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2222500"/>
            <a:ext cx="1714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9644">
            <a:off x="6413518" y="2914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52A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350000" y="3175000"/>
            <a:ext cx="2349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52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核心文件：emcee_fit_2d.py、ls_fit.py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集成MCMC马尔可夫链蒙特卡洛与最小二乘两种拟合算法，实现对模型参数的高效、精准估计。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9080500" y="1905000"/>
            <a:ext cx="2603500" cy="30480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12700" cap="flat" cmpd="sng">
            <a:solidFill>
              <a:srgbClr val="0052A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080500" y="1905000"/>
            <a:ext cx="2603500" cy="76200"/>
          </a:xfrm>
          <a:prstGeom prst="roundRect">
            <a:avLst>
              <a:gd name="adj" fmla="val 0"/>
            </a:avLst>
          </a:prstGeom>
          <a:solidFill>
            <a:srgbClr val="0052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71000" y="2222500"/>
            <a:ext cx="457200" cy="4572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842500" y="2222500"/>
            <a:ext cx="1714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结果层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19644">
            <a:off x="9271018" y="2914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52A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9207500" y="3175000"/>
            <a:ext cx="2349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52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核心文件：analysis.py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负责拟合结果的统计分析、可视化绘图与数据导出，输出直观的图表与详细的参数报告，辅助结论生成。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508000" y="5334000"/>
            <a:ext cx="11176000" cy="1143000"/>
          </a:xfrm>
          <a:prstGeom prst="roundRect">
            <a:avLst>
              <a:gd name="adj" fmla="val 0"/>
            </a:avLst>
          </a:prstGeom>
          <a:solidFill>
            <a:srgbClr val="0052A0">
              <a:alpha val="5000"/>
            </a:srgbClr>
          </a:solidFill>
          <a:ln w="12700" cap="flat" cmpd="sng">
            <a:solidFill>
              <a:srgbClr val="0052A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2000" y="5651500"/>
            <a:ext cx="508000" cy="5080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1524000" y="5461000"/>
            <a:ext cx="990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2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主程序入口：main.py 与 run_all.py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作为整个代码架构的调度中枢，统一调用数据层、模型层、算法层与结果层的功能模块，实现从数据输入到结果输出的全流程自动化执行，提升代码的易用性与复用性。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1432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508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432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核心模块代码解析 (1/2)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906">
            <a:off x="508004" y="1390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326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508000" y="19050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EBF2FA">
              <a:alpha val="60000"/>
            </a:srgbClr>
          </a:solidFill>
          <a:ln w="12700" cap="flat" cmpd="sng">
            <a:solidFill>
              <a:srgbClr val="14326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1905000"/>
            <a:ext cx="3556000" cy="571500"/>
          </a:xfrm>
          <a:prstGeom prst="roundRect">
            <a:avLst>
              <a:gd name="adj" fmla="val 0"/>
            </a:avLst>
          </a:prstGeom>
          <a:solidFill>
            <a:srgbClr val="14326E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5000" y="2006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016000" y="1955800"/>
            <a:ext cx="292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cosmology.py · 理论模型核心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" y="2794000"/>
            <a:ext cx="3302000" cy="1778000"/>
          </a:xfrm>
          <a:prstGeom prst="roundRect">
            <a:avLst>
              <a:gd name="adj" fmla="val 0"/>
            </a:avLst>
          </a:prstGeom>
          <a:solidFill>
            <a:srgbClr val="F8F8F8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36600" y="2895600"/>
            <a:ext cx="3098800" cy="157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def distance_modulus(z, Om, Ol):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"""计算距离模数 mu(z)"""</a:t>
            </a:r>
            <a:endParaRPr lang="en-US" sz="1200" b="0" i="0" u="none" strike="noStrike">
              <a:solidFill>
                <a:srgbClr val="50505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2323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dL = lum_dist(z, Om, Ol)</a:t>
            </a:r>
            <a:endParaRPr lang="en-US" sz="1200" b="0" i="0" u="none" strike="noStrike">
              <a:solidFill>
                <a:srgbClr val="323232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2323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return 5.0 * np.log10(dL) + 25.0</a:t>
            </a:r>
            <a:endParaRPr lang="en-US" sz="1200" b="0" i="0" u="none" strike="noStrike">
              <a:solidFill>
                <a:srgbClr val="323232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13222">
            <a:off x="635012" y="4883150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326E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35000" y="50800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物理模型的基石，将宇宙学参数（物质密度、暗能量密度）直接映射为可观测的距离模数，构建理论与实测数据的定量桥梁。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18000" y="19050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EBF2FA">
              <a:alpha val="60000"/>
            </a:srgbClr>
          </a:solidFill>
          <a:ln w="12700" cap="flat" cmpd="sng">
            <a:solidFill>
              <a:srgbClr val="14326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318000" y="1905000"/>
            <a:ext cx="3556000" cy="571500"/>
          </a:xfrm>
          <a:prstGeom prst="roundRect">
            <a:avLst>
              <a:gd name="adj" fmla="val 0"/>
            </a:avLst>
          </a:prstGeom>
          <a:solidFill>
            <a:srgbClr val="14326E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5000" y="20066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826000" y="1955800"/>
            <a:ext cx="292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emcee_fit_2d.py · 贝叶斯推断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445000" y="2794000"/>
            <a:ext cx="3302000" cy="1778000"/>
          </a:xfrm>
          <a:prstGeom prst="roundRect">
            <a:avLst>
              <a:gd name="adj" fmla="val 0"/>
            </a:avLst>
          </a:prstGeom>
          <a:solidFill>
            <a:srgbClr val="F8F8F8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546600" y="2895600"/>
            <a:ext cx="3098800" cy="157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def log_prob(theta, z, mu, err):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"""后验 = 先验 + 似然"""</a:t>
            </a:r>
            <a:endParaRPr lang="en-US" sz="1200" b="0" i="0" u="none" strike="noStrike">
              <a:solidFill>
                <a:srgbClr val="50505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2323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lp = log_prior(theta)</a:t>
            </a:r>
            <a:endParaRPr lang="en-US" sz="1200" b="0" i="0" u="none" strike="noStrike">
              <a:solidFill>
                <a:srgbClr val="323232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2323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return lp + log_like(theta, z, mu, err) if np.isfinite(lp) else -np.inf</a:t>
            </a:r>
            <a:endParaRPr lang="en-US" sz="1200" b="0" i="0" u="none" strike="noStrike">
              <a:solidFill>
                <a:srgbClr val="323232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cxnSp>
        <p:nvCxnSpPr>
          <p:cNvPr id="19" name="Connector 19"/>
          <p:cNvCxnSpPr/>
          <p:nvPr/>
        </p:nvCxnSpPr>
        <p:spPr>
          <a:xfrm rot="-13222">
            <a:off x="4445012" y="4883150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326E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4445000" y="50800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定义马尔可夫链蒙特卡洛（MCMC）的核心概率计算逻辑，通过结合参数先验与观测似然，量化理论模型对数据的解释能力。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128000" y="19050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EBF2FA">
              <a:alpha val="60000"/>
            </a:srgbClr>
          </a:solidFill>
          <a:ln w="12700" cap="flat" cmpd="sng">
            <a:solidFill>
              <a:srgbClr val="14326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128000" y="1905000"/>
            <a:ext cx="3556000" cy="571500"/>
          </a:xfrm>
          <a:prstGeom prst="roundRect">
            <a:avLst>
              <a:gd name="adj" fmla="val 0"/>
            </a:avLst>
          </a:prstGeom>
          <a:solidFill>
            <a:srgbClr val="14326E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20066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8636000" y="1955800"/>
            <a:ext cx="292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analysis.py · 结果可视化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255000" y="2794000"/>
            <a:ext cx="3302000" cy="1778000"/>
          </a:xfrm>
          <a:prstGeom prst="roundRect">
            <a:avLst>
              <a:gd name="adj" fmla="val 0"/>
            </a:avLst>
          </a:prstGeom>
          <a:solidFill>
            <a:srgbClr val="F8F8F8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356600" y="2895600"/>
            <a:ext cx="3098800" cy="157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def plot_corner(samples, labels):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"""绘制多维后验分布角图"""</a:t>
            </a:r>
            <a:endParaRPr lang="en-US" sz="1200" b="0" i="0" u="none" strike="noStrike">
              <a:solidFill>
                <a:srgbClr val="50505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2323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fig = corner.corner(samples, labels=labels)</a:t>
            </a:r>
            <a:endParaRPr lang="en-US" sz="1200" b="0" i="0" u="none" strike="noStrike">
              <a:solidFill>
                <a:srgbClr val="323232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2323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fig.savefig("corner_posterior.png")</a:t>
            </a:r>
            <a:endParaRPr lang="en-US" sz="1200" b="0" i="0" u="none" strike="noStrike">
              <a:solidFill>
                <a:srgbClr val="323232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cxnSp>
        <p:nvCxnSpPr>
          <p:cNvPr id="27" name="Connector 27"/>
          <p:cNvCxnSpPr/>
          <p:nvPr/>
        </p:nvCxnSpPr>
        <p:spPr>
          <a:xfrm rot="-13222">
            <a:off x="8255012" y="4883150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326E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8255000" y="50800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利用Corner库将MCMC采样得到的抽象数值样本，转化为直观的二维/一维后验分布图，清晰展示参数间的关联与置信区间。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508000" y="6223000"/>
            <a:ext cx="11176000" cy="431800"/>
          </a:xfrm>
          <a:prstGeom prst="roundRect">
            <a:avLst>
              <a:gd name="adj" fmla="val 0"/>
            </a:avLst>
          </a:prstGeom>
          <a:solidFill>
            <a:srgbClr val="14326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35000" y="6299200"/>
            <a:ext cx="1092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432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逻辑链路：理论参数输入 → 贝叶斯概率计算 → MCMC采样迭代 → 可视化结果输出，构成完整的宇宙学参数拟合闭环。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0"/>
          </a:xfrm>
          <a:prstGeom prst="roundRect">
            <a:avLst>
              <a:gd name="adj" fmla="val 0"/>
            </a:avLst>
          </a:prstGeom>
          <a:solidFill>
            <a:srgbClr val="173C73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254000"/>
            <a:ext cx="101600" cy="508000"/>
          </a:xfrm>
          <a:prstGeom prst="roundRect">
            <a:avLst>
              <a:gd name="adj" fmla="val 0"/>
            </a:avLst>
          </a:prstGeom>
          <a:solidFill>
            <a:srgbClr val="173C7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73C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核心模块详解 (2/2)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397000"/>
            <a:ext cx="3632200" cy="4826000"/>
          </a:xfrm>
          <a:prstGeom prst="roundRect">
            <a:avLst>
              <a:gd name="adj" fmla="val 0"/>
            </a:avLst>
          </a:prstGeom>
          <a:solidFill>
            <a:srgbClr val="F0F4F8">
              <a:alpha val="100000"/>
            </a:srgbClr>
          </a:solidFill>
          <a:ln w="12700" cap="flat" cmpd="sng">
            <a:solidFill>
              <a:srgbClr val="173C73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1397000"/>
            <a:ext cx="3632200" cy="76200"/>
          </a:xfrm>
          <a:prstGeom prst="roundRect">
            <a:avLst>
              <a:gd name="adj" fmla="val 0"/>
            </a:avLst>
          </a:prstGeom>
          <a:solidFill>
            <a:srgbClr val="173C7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1714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143000" y="1676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73C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data_utils.py · 数据加载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3428">
            <a:off x="698512" y="2279650"/>
            <a:ext cx="325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73C73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98500" y="2540000"/>
            <a:ext cx="3251200" cy="2032000"/>
          </a:xfrm>
          <a:prstGeom prst="roundRect">
            <a:avLst>
              <a:gd name="adj" fmla="val 0"/>
            </a:avLst>
          </a:prstGeom>
          <a:solidFill>
            <a:srgbClr val="000000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2603500"/>
            <a:ext cx="3124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def load_sn_csv(filepath):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data = pd.read_csv(filepath)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64646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校验必要列完整性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cols = ['z', 'mu', 'mu_err']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assert all(c in data.columns for c in cols)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return data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98500" y="5080000"/>
            <a:ext cx="3251200" cy="1079500"/>
          </a:xfrm>
          <a:prstGeom prst="roundRect">
            <a:avLst>
              <a:gd name="adj" fmla="val 0"/>
            </a:avLst>
          </a:prstGeom>
          <a:solidFill>
            <a:srgbClr val="173C73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00100" y="51435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73C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封装数据读取逻辑，通过断言校验关键列完整性，为全流程提供统一、可靠且合规的数据输入源，规避下游数据异常风险。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318000" y="1397000"/>
            <a:ext cx="3632200" cy="4826000"/>
          </a:xfrm>
          <a:prstGeom prst="roundRect">
            <a:avLst>
              <a:gd name="adj" fmla="val 0"/>
            </a:avLst>
          </a:prstGeom>
          <a:solidFill>
            <a:srgbClr val="F0F4F8">
              <a:alpha val="100000"/>
            </a:srgbClr>
          </a:solidFill>
          <a:ln w="12700" cap="flat" cmpd="sng">
            <a:solidFill>
              <a:srgbClr val="173C73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318000" y="1397000"/>
            <a:ext cx="3632200" cy="76200"/>
          </a:xfrm>
          <a:prstGeom prst="roundRect">
            <a:avLst>
              <a:gd name="adj" fmla="val 0"/>
            </a:avLst>
          </a:prstGeom>
          <a:solidFill>
            <a:srgbClr val="173C73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8500" y="1714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953000" y="1676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73C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main.py · 命令行入口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3428">
            <a:off x="4508512" y="2279650"/>
            <a:ext cx="325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73C73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4508500" y="2540000"/>
            <a:ext cx="3251200" cy="2032000"/>
          </a:xfrm>
          <a:prstGeom prst="roundRect">
            <a:avLst>
              <a:gd name="adj" fmla="val 0"/>
            </a:avLst>
          </a:prstGeom>
          <a:solidFill>
            <a:srgbClr val="000000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572000" y="2603500"/>
            <a:ext cx="3124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 __name__ == "__main__":</a:t>
            </a:r>
            <a:b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快速执行单流程示例</a:t>
            </a:r>
            <a:b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data = load_sn_csv('data.csv')</a:t>
            </a:r>
            <a:b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sampler = run_emcee(data.z, data.mu, data.mu_err)</a:t>
            </a:r>
            <a:b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plot_corner(sampler.flatchain)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508500" y="5080000"/>
            <a:ext cx="3251200" cy="1079500"/>
          </a:xfrm>
          <a:prstGeom prst="roundRect">
            <a:avLst>
              <a:gd name="adj" fmla="val 0"/>
            </a:avLst>
          </a:prstGeom>
          <a:solidFill>
            <a:srgbClr val="173C73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4610100" y="51435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73C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作为项目的单任务执行入口，支持开发者灵活调试单个分析环节（如MCMC采样、绘图），兼顾交互性与快速验证需求。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051800" y="1397000"/>
            <a:ext cx="3632200" cy="4826000"/>
          </a:xfrm>
          <a:prstGeom prst="roundRect">
            <a:avLst>
              <a:gd name="adj" fmla="val 0"/>
            </a:avLst>
          </a:prstGeom>
          <a:solidFill>
            <a:srgbClr val="F0F4F8">
              <a:alpha val="100000"/>
            </a:srgbClr>
          </a:solidFill>
          <a:ln w="12700" cap="flat" cmpd="sng">
            <a:solidFill>
              <a:srgbClr val="173C73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051800" y="1397000"/>
            <a:ext cx="3632200" cy="76200"/>
          </a:xfrm>
          <a:prstGeom prst="roundRect">
            <a:avLst>
              <a:gd name="adj" fmla="val 0"/>
            </a:avLst>
          </a:prstGeom>
          <a:solidFill>
            <a:srgbClr val="173C73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2300" y="1714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686800" y="1676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73C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run_all.py · 批处理总控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13428">
            <a:off x="8242312" y="2279650"/>
            <a:ext cx="325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73C73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8242300" y="2540000"/>
            <a:ext cx="3251200" cy="2032000"/>
          </a:xfrm>
          <a:prstGeom prst="roundRect">
            <a:avLst>
              <a:gd name="adj" fmla="val 0"/>
            </a:avLst>
          </a:prstGeom>
          <a:solidFill>
            <a:srgbClr val="000000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305800" y="2603500"/>
            <a:ext cx="3124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def main():</a:t>
            </a:r>
            <a:b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串联全链路分析步骤</a:t>
            </a:r>
            <a:b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run_ls_fit() # 最小二乘拟合</a:t>
            </a:r>
            <a:b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run_mcmc_2d() # 二维MCMC采样</a:t>
            </a:r>
            <a:b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generate_all_plots() # 结果可视化输出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242300" y="5080000"/>
            <a:ext cx="3251200" cy="1079500"/>
          </a:xfrm>
          <a:prstGeom prst="roundRect">
            <a:avLst>
              <a:gd name="adj" fmla="val 0"/>
            </a:avLst>
          </a:prstGeom>
          <a:solidFill>
            <a:srgbClr val="173C73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343900" y="51435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73C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实现全流程自动化调度，按预设逻辑依次执行拟合、采样、绘图任务，避免人工分步操作的繁琐，确保分析流程的一致性与可复现性。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51" b="13595"/>
          <a:stretch>
            <a:fillRect/>
          </a:stretch>
        </p:blipFill>
        <p:spPr>
          <a:xfrm>
            <a:off x="194342" y="211432"/>
            <a:ext cx="11803316" cy="552602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4342" y="211432"/>
            <a:ext cx="11809309" cy="5526020"/>
          </a:xfrm>
          <a:prstGeom prst="rect">
            <a:avLst/>
          </a:prstGeom>
          <a:solidFill>
            <a:srgbClr val="024282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4949527" y="5155867"/>
            <a:ext cx="2292946" cy="38382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文本占位符 32"/>
          <p:cNvSpPr txBox="1"/>
          <p:nvPr/>
        </p:nvSpPr>
        <p:spPr>
          <a:xfrm>
            <a:off x="4791075" y="521310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占位符 24"/>
          <p:cNvSpPr txBox="1"/>
          <p:nvPr/>
        </p:nvSpPr>
        <p:spPr>
          <a:xfrm>
            <a:off x="629680" y="2881497"/>
            <a:ext cx="11161239" cy="2133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25000"/>
              </a:lnSpc>
              <a:defRPr/>
            </a:pPr>
            <a:r>
              <a:rPr lang="zh-CN" altLang="en-US" dirty="0">
                <a:solidFill>
                  <a:sysClr val="window" lastClr="FFFFFF"/>
                </a:solidFill>
                <a:sym typeface="+mn-ea"/>
              </a:rPr>
              <a:t> 汇报结束  感谢聆听</a:t>
            </a:r>
            <a:r>
              <a:rPr lang="zh-CN" altLang="en-US" i="1" dirty="0">
                <a:solidFill>
                  <a:sysClr val="window" lastClr="FFFFFF"/>
                </a:solidFill>
                <a:sym typeface="+mn-ea"/>
              </a:rPr>
              <a:t>！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文本占位符 27"/>
          <p:cNvSpPr txBox="1"/>
          <p:nvPr/>
        </p:nvSpPr>
        <p:spPr>
          <a:xfrm>
            <a:off x="1166827" y="4542358"/>
            <a:ext cx="9858345" cy="2965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279576" y="4230756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518" y="1120548"/>
            <a:ext cx="4324962" cy="1402234"/>
          </a:xfrm>
          <a:prstGeom prst="rect">
            <a:avLst/>
          </a:prstGeom>
        </p:spPr>
      </p:pic>
      <p:sp>
        <p:nvSpPr>
          <p:cNvPr id="3" name="平行四边形 2"/>
          <p:cNvSpPr/>
          <p:nvPr/>
        </p:nvSpPr>
        <p:spPr>
          <a:xfrm>
            <a:off x="3406056" y="5935211"/>
            <a:ext cx="2764598" cy="487239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平行四边形 3"/>
          <p:cNvSpPr/>
          <p:nvPr/>
        </p:nvSpPr>
        <p:spPr>
          <a:xfrm>
            <a:off x="6038850" y="5935345"/>
            <a:ext cx="2840990" cy="487045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占位符 30"/>
          <p:cNvSpPr txBox="1"/>
          <p:nvPr/>
        </p:nvSpPr>
        <p:spPr>
          <a:xfrm>
            <a:off x="2832100" y="6030595"/>
            <a:ext cx="5829935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汇报人：熊家逸，韩雨洁，李博睿</a:t>
            </a:r>
            <a:endParaRPr lang="zh-CN" altLang="en-US" dirty="0">
              <a:solidFill>
                <a:sysClr val="window" lastClr="FFFFFF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DIAGRAM_VIRTUALLY_FRAME" val="{&quot;height&quot;:453.51370078740155,&quot;left&quot;:326.63370078740155,&quot;top&quot;:64.15,&quot;width&quot;:628.2662992125985}"/>
</p:tagLst>
</file>

<file path=ppt/tags/tag3.xml><?xml version="1.0" encoding="utf-8"?>
<p:tagLst xmlns:p="http://schemas.openxmlformats.org/presentationml/2006/main">
  <p:tag name="KSO_WM_DIAGRAM_VIRTUALLY_FRAME" val="{&quot;height&quot;:453.51370078740155,&quot;left&quot;:326.63370078740155,&quot;top&quot;:64.15,&quot;width&quot;:628.2662992125985}"/>
</p:tagLst>
</file>

<file path=ppt/tags/tag4.xml><?xml version="1.0" encoding="utf-8"?>
<p:tagLst xmlns:p="http://schemas.openxmlformats.org/presentationml/2006/main">
  <p:tag name="KSO_WM_DIAGRAM_VIRTUALLY_FRAME" val="{&quot;height&quot;:453.51370078740155,&quot;left&quot;:326.63370078740155,&quot;top&quot;:64.15,&quot;width&quot;:628.2662992125985}"/>
</p:tagLst>
</file>

<file path=ppt/tags/tag5.xml><?xml version="1.0" encoding="utf-8"?>
<p:tagLst xmlns:p="http://schemas.openxmlformats.org/presentationml/2006/main">
  <p:tag name="KSO_WM_DIAGRAM_VIRTUALLY_FRAME" val="{&quot;height&quot;:453.51370078740155,&quot;left&quot;:326.63370078740155,&quot;top&quot;:64.15,&quot;width&quot;:628.2662992125985}"/>
</p:tagLst>
</file>

<file path=ppt/tags/tag6.xml><?xml version="1.0" encoding="utf-8"?>
<p:tagLst xmlns:p="http://schemas.openxmlformats.org/presentationml/2006/main">
  <p:tag name="KSO_WM_DIAGRAM_VIRTUALLY_FRAME" val="{&quot;height&quot;:453.51370078740155,&quot;left&quot;:326.63370078740155,&quot;top&quot;:64.15,&quot;width&quot;:628.2662992125985}"/>
</p:tagLst>
</file>

<file path=ppt/tags/tag7.xml><?xml version="1.0" encoding="utf-8"?>
<p:tagLst xmlns:p="http://schemas.openxmlformats.org/presentationml/2006/main">
  <p:tag name="KSO_WM_DIAGRAM_VIRTUALLY_FRAME" val="{&quot;height&quot;:453.51370078740155,&quot;left&quot;:326.63370078740155,&quot;top&quot;:64.15,&quot;width&quot;:628.2662992125985}"/>
</p:tagLst>
</file>

<file path=ppt/tags/tag8.xml><?xml version="1.0" encoding="utf-8"?>
<p:tagLst xmlns:p="http://schemas.openxmlformats.org/presentationml/2006/main">
  <p:tag name="KSO_WM_DIAGRAM_VIRTUALLY_FRAME" val="{&quot;height&quot;:453.51370078740155,&quot;left&quot;:326.63370078740155,&quot;top&quot;:64.15,&quot;width&quot;:628.2662992125985}"/>
</p:tagLst>
</file>

<file path=ppt/tags/tag9.xml><?xml version="1.0" encoding="utf-8"?>
<p:tagLst xmlns:p="http://schemas.openxmlformats.org/presentationml/2006/main">
  <p:tag name="KSO_WM_DIAGRAM_VIRTUALLY_FRAME" val="{&quot;height&quot;:453.51370078740155,&quot;left&quot;:326.63370078740155,&quot;top&quot;:64.15,&quot;width&quot;:628.2662992125985}"/>
</p:tagLst>
</file>

<file path=ppt/tags/tag10.xml><?xml version="1.0" encoding="utf-8"?>
<p:tagLst xmlns:p="http://schemas.openxmlformats.org/presentationml/2006/main">
  <p:tag name="KSO_WM_DIAGRAM_VIRTUALLY_FRAME" val="{&quot;height&quot;:453.51370078740155,&quot;left&quot;:326.63370078740155,&quot;top&quot;:64.15,&quot;width&quot;:628.2662992125985}"/>
</p:tagLst>
</file>

<file path=ppt/tags/tag11.xml><?xml version="1.0" encoding="utf-8"?>
<p:tagLst xmlns:p="http://schemas.openxmlformats.org/presentationml/2006/main">
  <p:tag name="KSO_WM_DIAGRAM_VIRTUALLY_FRAME" val="{&quot;height&quot;:453.51370078740155,&quot;left&quot;:326.63370078740155,&quot;top&quot;:64.15,&quot;width&quot;:628.2662992125985}"/>
</p:tagLst>
</file>

<file path=ppt/tags/tag12.xml><?xml version="1.0" encoding="utf-8"?>
<p:tagLst xmlns:p="http://schemas.openxmlformats.org/presentationml/2006/main">
  <p:tag name="KSO_WM_DIAGRAM_VIRTUALLY_FRAME" val="{&quot;height&quot;:453.51370078740155,&quot;left&quot;:326.63370078740155,&quot;top&quot;:64.15,&quot;width&quot;:628.2662992125985}"/>
</p:tagLst>
</file>

<file path=ppt/tags/tag13.xml><?xml version="1.0" encoding="utf-8"?>
<p:tagLst xmlns:p="http://schemas.openxmlformats.org/presentationml/2006/main">
  <p:tag name="KSO_WM_DIAGRAM_VIRTUALLY_FRAME" val="{&quot;height&quot;:453.51370078740155,&quot;left&quot;:326.63370078740155,&quot;top&quot;:64.15,&quot;width&quot;:628.2662992125985}"/>
</p:tagLst>
</file>

<file path=ppt/tags/tag14.xml><?xml version="1.0" encoding="utf-8"?>
<p:tagLst xmlns:p="http://schemas.openxmlformats.org/presentationml/2006/main">
  <p:tag name="KSO_WM_DIAGRAM_VIRTUALLY_FRAME" val="{&quot;height&quot;:558.6146456692913,&quot;left&quot;:230.1837007874015,&quot;top&quot;:-40.95094488188979,&quot;width&quot;:724.7162992125984}"/>
</p:tagLst>
</file>

<file path=ppt/tags/tag15.xml><?xml version="1.0" encoding="utf-8"?>
<p:tagLst xmlns:p="http://schemas.openxmlformats.org/presentationml/2006/main">
  <p:tag name="KSO_WM_DIAGRAM_VIRTUALLY_FRAME" val="{&quot;height&quot;:442.9646456692914,&quot;left&quot;:326.63370078740155,&quot;top&quot;:74.69905511811021,&quot;width&quot;:628.2662992125985}"/>
</p:tagLst>
</file>

<file path=ppt/tags/tag16.xml><?xml version="1.0" encoding="utf-8"?>
<p:tagLst xmlns:p="http://schemas.openxmlformats.org/presentationml/2006/main">
  <p:tag name="KSO_WM_DIAGRAM_VIRTUALLY_FRAME" val="{&quot;height&quot;:442.9646456692914,&quot;left&quot;:326.63370078740155,&quot;top&quot;:74.69905511811021,&quot;width&quot;:628.2662992125985}"/>
</p:tagLst>
</file>

<file path=ppt/tags/tag17.xml><?xml version="1.0" encoding="utf-8"?>
<p:tagLst xmlns:p="http://schemas.openxmlformats.org/presentationml/2006/main">
  <p:tag name="KSO_WM_DIAGRAM_VIRTUALLY_FRAME" val="{&quot;height&quot;:442.9646456692914,&quot;left&quot;:326.63370078740155,&quot;top&quot;:74.69905511811021,&quot;width&quot;:628.2662992125985}"/>
</p:tagLst>
</file>

<file path=ppt/tags/tag18.xml><?xml version="1.0" encoding="utf-8"?>
<p:tagLst xmlns:p="http://schemas.openxmlformats.org/presentationml/2006/main">
  <p:tag name="KSO_WM_DIAGRAM_VIRTUALLY_FRAME" val="{&quot;height&quot;:442.9646456692914,&quot;left&quot;:326.63370078740155,&quot;top&quot;:74.69905511811021,&quot;width&quot;:628.2662992125985}"/>
</p:tagLst>
</file>

<file path=ppt/tags/tag19.xml><?xml version="1.0" encoding="utf-8"?>
<p:tagLst xmlns:p="http://schemas.openxmlformats.org/presentationml/2006/main">
  <p:tag name="KSO_WM_DIAGRAM_VIRTUALLY_FRAME" val="{&quot;height&quot;:428.1,&quot;left&quot;:429.1567716535433,&quot;top&quot;:74.7,&quot;width&quot;:525.7432283464567}"/>
  <p:tag name="KSO_WM_BEAUTIFY_FLAG" val=""/>
</p:tagLst>
</file>

<file path=ppt/tags/tag20.xml><?xml version="1.0" encoding="utf-8"?>
<p:tagLst xmlns:p="http://schemas.openxmlformats.org/presentationml/2006/main">
  <p:tag name="KSO_WM_DIAGRAM_VIRTUALLY_FRAME" val="{&quot;height&quot;:340,&quot;left&quot;:40,&quot;top&quot;:150,&quot;width&quot;:880}"/>
</p:tagLst>
</file>

<file path=ppt/tags/tag21.xml><?xml version="1.0" encoding="utf-8"?>
<p:tagLst xmlns:p="http://schemas.openxmlformats.org/presentationml/2006/main">
  <p:tag name="KSO_WM_DIAGRAM_VIRTUALLY_FRAME" val="{&quot;height&quot;:340,&quot;left&quot;:40,&quot;top&quot;:150,&quot;width&quot;:880}"/>
</p:tagLst>
</file>

<file path=ppt/tags/tag22.xml><?xml version="1.0" encoding="utf-8"?>
<p:tagLst xmlns:p="http://schemas.openxmlformats.org/presentationml/2006/main">
  <p:tag name="KSO_WM_DIAGRAM_VIRTUALLY_FRAME" val="{&quot;height&quot;:340,&quot;left&quot;:40,&quot;top&quot;:150,&quot;width&quot;:880}"/>
</p:tagLst>
</file>

<file path=ppt/tags/tag23.xml><?xml version="1.0" encoding="utf-8"?>
<p:tagLst xmlns:p="http://schemas.openxmlformats.org/presentationml/2006/main">
  <p:tag name="KSO_WM_DIAGRAM_VIRTUALLY_FRAME" val="{&quot;height&quot;:340,&quot;left&quot;:40,&quot;top&quot;:150,&quot;width&quot;:880}"/>
</p:tagLst>
</file>

<file path=ppt/tags/tag24.xml><?xml version="1.0" encoding="utf-8"?>
<p:tagLst xmlns:p="http://schemas.openxmlformats.org/presentationml/2006/main">
  <p:tag name="KSO_WM_DIAGRAM_VIRTUALLY_FRAME" val="{&quot;height&quot;:340,&quot;left&quot;:40,&quot;top&quot;:150,&quot;width&quot;:880}"/>
</p:tagLst>
</file>

<file path=ppt/tags/tag25.xml><?xml version="1.0" encoding="utf-8"?>
<p:tagLst xmlns:p="http://schemas.openxmlformats.org/presentationml/2006/main">
  <p:tag name="KSO_WM_DIAGRAM_VIRTUALLY_FRAME" val="{&quot;height&quot;:340,&quot;left&quot;:40,&quot;top&quot;:150,&quot;width&quot;:880}"/>
</p:tagLst>
</file>

<file path=ppt/tags/tag26.xml><?xml version="1.0" encoding="utf-8"?>
<p:tagLst xmlns:p="http://schemas.openxmlformats.org/presentationml/2006/main">
  <p:tag name="KSO_WM_DIAGRAM_VIRTUALLY_FRAME" val="{&quot;height&quot;:340,&quot;left&quot;:40,&quot;top&quot;:150,&quot;width&quot;:880}"/>
</p:tagLst>
</file>

<file path=ppt/tags/tag27.xml><?xml version="1.0" encoding="utf-8"?>
<p:tagLst xmlns:p="http://schemas.openxmlformats.org/presentationml/2006/main">
  <p:tag name="KSO_WM_DIAGRAM_VIRTUALLY_FRAME" val="{&quot;height&quot;:340,&quot;left&quot;:40,&quot;top&quot;:150,&quot;width&quot;:880}"/>
</p:tagLst>
</file>

<file path=ppt/tags/tag28.xml><?xml version="1.0" encoding="utf-8"?>
<p:tagLst xmlns:p="http://schemas.openxmlformats.org/presentationml/2006/main">
  <p:tag name="KSO_WM_DIAGRAM_VIRTUALLY_FRAME" val="{&quot;height&quot;:340,&quot;left&quot;:40,&quot;top&quot;:150,&quot;width&quot;:880}"/>
</p:tagLst>
</file>

<file path=ppt/tags/tag29.xml><?xml version="1.0" encoding="utf-8"?>
<p:tagLst xmlns:p="http://schemas.openxmlformats.org/presentationml/2006/main">
  <p:tag name="KSO_WM_DIAGRAM_VIRTUALLY_FRAME" val="{&quot;height&quot;:340,&quot;left&quot;:40,&quot;top&quot;:150,&quot;width&quot;:880}"/>
</p:tagLst>
</file>

<file path=ppt/tags/tag30.xml><?xml version="1.0" encoding="utf-8"?>
<p:tagLst xmlns:p="http://schemas.openxmlformats.org/presentationml/2006/main">
  <p:tag name="KSO_WM_DIAGRAM_VIRTUALLY_FRAME" val="{&quot;height&quot;:340,&quot;left&quot;:40,&quot;top&quot;:150,&quot;width&quot;:880}"/>
</p:tagLst>
</file>

<file path=ppt/tags/tag31.xml><?xml version="1.0" encoding="utf-8"?>
<p:tagLst xmlns:p="http://schemas.openxmlformats.org/presentationml/2006/main">
  <p:tag name="KSO_WM_DIAGRAM_VIRTUALLY_FRAME" val="{&quot;height&quot;:340,&quot;left&quot;:40,&quot;top&quot;:150,&quot;width&quot;:880}"/>
</p:tagLst>
</file>

<file path=ppt/tags/tag32.xml><?xml version="1.0" encoding="utf-8"?>
<p:tagLst xmlns:p="http://schemas.openxmlformats.org/presentationml/2006/main">
  <p:tag name="KSO_WM_DIAGRAM_VIRTUALLY_FRAME" val="{&quot;height&quot;:428.1,&quot;left&quot;:429.1567716535433,&quot;top&quot;:74.7,&quot;width&quot;:525.7432283464567}"/>
  <p:tag name="KSO_WM_BEAUTIFY_FLAG" val=""/>
</p:tagLst>
</file>

<file path=ppt/tags/tag33.xml><?xml version="1.0" encoding="utf-8"?>
<p:tagLst xmlns:p="http://schemas.openxmlformats.org/presentationml/2006/main">
  <p:tag name="KSO_WM_DIAGRAM_VIRTUALLY_FRAME" val="{&quot;height&quot;:360,&quot;left&quot;:460,&quot;top&quot;:140,&quot;width&quot;:460}"/>
</p:tagLst>
</file>

<file path=ppt/tags/tag34.xml><?xml version="1.0" encoding="utf-8"?>
<p:tagLst xmlns:p="http://schemas.openxmlformats.org/presentationml/2006/main">
  <p:tag name="KSO_WM_DIAGRAM_VIRTUALLY_FRAME" val="{&quot;height&quot;:360,&quot;left&quot;:460,&quot;top&quot;:140,&quot;width&quot;:460}"/>
</p:tagLst>
</file>

<file path=ppt/tags/tag35.xml><?xml version="1.0" encoding="utf-8"?>
<p:tagLst xmlns:p="http://schemas.openxmlformats.org/presentationml/2006/main">
  <p:tag name="KSO_WM_DIAGRAM_VIRTUALLY_FRAME" val="{&quot;height&quot;:360,&quot;left&quot;:460,&quot;top&quot;:140,&quot;width&quot;:460}"/>
</p:tagLst>
</file>

<file path=ppt/tags/tag36.xml><?xml version="1.0" encoding="utf-8"?>
<p:tagLst xmlns:p="http://schemas.openxmlformats.org/presentationml/2006/main">
  <p:tag name="KSO_WM_DIAGRAM_VIRTUALLY_FRAME" val="{&quot;height&quot;:360,&quot;left&quot;:460,&quot;top&quot;:140,&quot;width&quot;:460}"/>
</p:tagLst>
</file>

<file path=ppt/tags/tag37.xml><?xml version="1.0" encoding="utf-8"?>
<p:tagLst xmlns:p="http://schemas.openxmlformats.org/presentationml/2006/main">
  <p:tag name="KSO_WM_DIAGRAM_VIRTUALLY_FRAME" val="{&quot;height&quot;:360,&quot;left&quot;:460,&quot;top&quot;:140,&quot;width&quot;:460}"/>
</p:tagLst>
</file>

<file path=ppt/tags/tag38.xml><?xml version="1.0" encoding="utf-8"?>
<p:tagLst xmlns:p="http://schemas.openxmlformats.org/presentationml/2006/main">
  <p:tag name="KSO_WM_DIAGRAM_VIRTUALLY_FRAME" val="{&quot;height&quot;:360,&quot;left&quot;:460,&quot;top&quot;:140,&quot;width&quot;:460}"/>
</p:tagLst>
</file>

<file path=ppt/tags/tag39.xml><?xml version="1.0" encoding="utf-8"?>
<p:tagLst xmlns:p="http://schemas.openxmlformats.org/presentationml/2006/main">
  <p:tag name="KSO_WM_DIAGRAM_VIRTUALLY_FRAME" val="{&quot;height&quot;:360,&quot;left&quot;:460,&quot;top&quot;:140,&quot;width&quot;:460}"/>
</p:tagLst>
</file>

<file path=ppt/tags/tag40.xml><?xml version="1.0" encoding="utf-8"?>
<p:tagLst xmlns:p="http://schemas.openxmlformats.org/presentationml/2006/main">
  <p:tag name="KSO_WM_DIAGRAM_VIRTUALLY_FRAME" val="{&quot;height&quot;:360,&quot;left&quot;:460,&quot;top&quot;:140,&quot;width&quot;:460}"/>
</p:tagLst>
</file>

<file path=ppt/tags/tag41.xml><?xml version="1.0" encoding="utf-8"?>
<p:tagLst xmlns:p="http://schemas.openxmlformats.org/presentationml/2006/main">
  <p:tag name="KSO_WM_DIAGRAM_VIRTUALLY_FRAME" val="{&quot;height&quot;:360,&quot;left&quot;:460,&quot;top&quot;:140,&quot;width&quot;:460}"/>
</p:tagLst>
</file>

<file path=ppt/tags/tag42.xml><?xml version="1.0" encoding="utf-8"?>
<p:tagLst xmlns:p="http://schemas.openxmlformats.org/presentationml/2006/main">
  <p:tag name="KSO_WM_DIAGRAM_VIRTUALLY_FRAME" val="{&quot;height&quot;:210,&quot;left&quot;:40,&quot;top&quot;:120,&quot;width&quot;:880}"/>
</p:tagLst>
</file>

<file path=ppt/tags/tag43.xml><?xml version="1.0" encoding="utf-8"?>
<p:tagLst xmlns:p="http://schemas.openxmlformats.org/presentationml/2006/main">
  <p:tag name="KSO_WM_DIAGRAM_VIRTUALLY_FRAME" val="{&quot;height&quot;:210,&quot;left&quot;:40,&quot;top&quot;:120,&quot;width&quot;:880}"/>
</p:tagLst>
</file>

<file path=ppt/tags/tag44.xml><?xml version="1.0" encoding="utf-8"?>
<p:tagLst xmlns:p="http://schemas.openxmlformats.org/presentationml/2006/main">
  <p:tag name="KSO_WM_DIAGRAM_VIRTUALLY_FRAME" val="{&quot;height&quot;:210,&quot;left&quot;:40,&quot;top&quot;:120,&quot;width&quot;:880}"/>
</p:tagLst>
</file>

<file path=ppt/tags/tag45.xml><?xml version="1.0" encoding="utf-8"?>
<p:tagLst xmlns:p="http://schemas.openxmlformats.org/presentationml/2006/main">
  <p:tag name="KSO_WM_DIAGRAM_VIRTUALLY_FRAME" val="{&quot;height&quot;:210,&quot;left&quot;:40,&quot;top&quot;:120,&quot;width&quot;:880}"/>
</p:tagLst>
</file>

<file path=ppt/tags/tag46.xml><?xml version="1.0" encoding="utf-8"?>
<p:tagLst xmlns:p="http://schemas.openxmlformats.org/presentationml/2006/main">
  <p:tag name="KSO_WM_DIAGRAM_VIRTUALLY_FRAME" val="{&quot;height&quot;:210,&quot;left&quot;:40,&quot;top&quot;:120,&quot;width&quot;:880}"/>
</p:tagLst>
</file>

<file path=ppt/tags/tag47.xml><?xml version="1.0" encoding="utf-8"?>
<p:tagLst xmlns:p="http://schemas.openxmlformats.org/presentationml/2006/main">
  <p:tag name="KSO_WM_DIAGRAM_VIRTUALLY_FRAME" val="{&quot;height&quot;:210,&quot;left&quot;:40,&quot;top&quot;:120,&quot;width&quot;:880}"/>
</p:tagLst>
</file>

<file path=ppt/tags/tag48.xml><?xml version="1.0" encoding="utf-8"?>
<p:tagLst xmlns:p="http://schemas.openxmlformats.org/presentationml/2006/main">
  <p:tag name="KSO_WM_DIAGRAM_VIRTUALLY_FRAME" val="{&quot;height&quot;:210,&quot;left&quot;:40,&quot;top&quot;:120,&quot;width&quot;:880}"/>
</p:tagLst>
</file>

<file path=ppt/tags/tag49.xml><?xml version="1.0" encoding="utf-8"?>
<p:tagLst xmlns:p="http://schemas.openxmlformats.org/presentationml/2006/main">
  <p:tag name="KSO_WM_DIAGRAM_VIRTUALLY_FRAME" val="{&quot;height&quot;:210,&quot;left&quot;:40,&quot;top&quot;:120,&quot;width&quot;:880}"/>
</p:tagLst>
</file>

<file path=ppt/tags/tag50.xml><?xml version="1.0" encoding="utf-8"?>
<p:tagLst xmlns:p="http://schemas.openxmlformats.org/presentationml/2006/main">
  <p:tag name="KSO_WM_DIAGRAM_VIRTUALLY_FRAME" val="{&quot;height&quot;:210,&quot;left&quot;:40,&quot;top&quot;:120,&quot;width&quot;:880}"/>
</p:tagLst>
</file>

<file path=ppt/tags/tag51.xml><?xml version="1.0" encoding="utf-8"?>
<p:tagLst xmlns:p="http://schemas.openxmlformats.org/presentationml/2006/main">
  <p:tag name="KSO_WM_DIAGRAM_VIRTUALLY_FRAME" val="{&quot;height&quot;:210,&quot;left&quot;:40,&quot;top&quot;:120,&quot;width&quot;:880}"/>
</p:tagLst>
</file>

<file path=ppt/tags/tag52.xml><?xml version="1.0" encoding="utf-8"?>
<p:tagLst xmlns:p="http://schemas.openxmlformats.org/presentationml/2006/main">
  <p:tag name="KSO_WM_DIAGRAM_VIRTUALLY_FRAME" val="{&quot;height&quot;:210,&quot;left&quot;:40,&quot;top&quot;:120,&quot;width&quot;:880}"/>
</p:tagLst>
</file>

<file path=ppt/tags/tag53.xml><?xml version="1.0" encoding="utf-8"?>
<p:tagLst xmlns:p="http://schemas.openxmlformats.org/presentationml/2006/main">
  <p:tag name="KSO_WM_DIAGRAM_VIRTUALLY_FRAME" val="{&quot;height&quot;:210,&quot;left&quot;:40,&quot;top&quot;:120,&quot;width&quot;:880}"/>
</p:tagLst>
</file>

<file path=ppt/tags/tag54.xml><?xml version="1.0" encoding="utf-8"?>
<p:tagLst xmlns:p="http://schemas.openxmlformats.org/presentationml/2006/main">
  <p:tag name="KSO_WM_DIAGRAM_VIRTUALLY_FRAME" val="{&quot;height&quot;:110.00455614488351,&quot;left&quot;:60,&quot;top&quot;:240,&quot;width&quot;:850}"/>
</p:tagLst>
</file>

<file path=ppt/tags/tag55.xml><?xml version="1.0" encoding="utf-8"?>
<p:tagLst xmlns:p="http://schemas.openxmlformats.org/presentationml/2006/main">
  <p:tag name="KSO_WM_DIAGRAM_VIRTUALLY_FRAME" val="{&quot;height&quot;:110.00455614488351,&quot;left&quot;:60,&quot;top&quot;:240,&quot;width&quot;:850}"/>
</p:tagLst>
</file>

<file path=ppt/tags/tag56.xml><?xml version="1.0" encoding="utf-8"?>
<p:tagLst xmlns:p="http://schemas.openxmlformats.org/presentationml/2006/main">
  <p:tag name="KSO_WM_DIAGRAM_VIRTUALLY_FRAME" val="{&quot;height&quot;:110.00455614488351,&quot;left&quot;:60,&quot;top&quot;:240,&quot;width&quot;:850}"/>
</p:tagLst>
</file>

<file path=ppt/tags/tag57.xml><?xml version="1.0" encoding="utf-8"?>
<p:tagLst xmlns:p="http://schemas.openxmlformats.org/presentationml/2006/main">
  <p:tag name="KSO_WM_DIAGRAM_VIRTUALLY_FRAME" val="{&quot;height&quot;:110.00455614488351,&quot;left&quot;:60,&quot;top&quot;:240,&quot;width&quot;:850}"/>
</p:tagLst>
</file>

<file path=ppt/tags/tag58.xml><?xml version="1.0" encoding="utf-8"?>
<p:tagLst xmlns:p="http://schemas.openxmlformats.org/presentationml/2006/main">
  <p:tag name="KSO_WM_DIAGRAM_VIRTUALLY_FRAME" val="{&quot;height&quot;:110.00455614488351,&quot;left&quot;:60,&quot;top&quot;:240,&quot;width&quot;:850}"/>
</p:tagLst>
</file>

<file path=ppt/tags/tag59.xml><?xml version="1.0" encoding="utf-8"?>
<p:tagLst xmlns:p="http://schemas.openxmlformats.org/presentationml/2006/main">
  <p:tag name="KSO_WM_DIAGRAM_VIRTUALLY_FRAME" val="{&quot;height&quot;:110.00455614488351,&quot;left&quot;:60,&quot;top&quot;:240,&quot;width&quot;:850}"/>
</p:tagLst>
</file>

<file path=ppt/tags/tag60.xml><?xml version="1.0" encoding="utf-8"?>
<p:tagLst xmlns:p="http://schemas.openxmlformats.org/presentationml/2006/main">
  <p:tag name="KSO_WM_DIAGRAM_VIRTUALLY_FRAME" val="{&quot;height&quot;:110.00455614488351,&quot;left&quot;:60,&quot;top&quot;:240,&quot;width&quot;:850}"/>
</p:tagLst>
</file>

<file path=ppt/tags/tag61.xml><?xml version="1.0" encoding="utf-8"?>
<p:tagLst xmlns:p="http://schemas.openxmlformats.org/presentationml/2006/main">
  <p:tag name="KSO_WM_DIAGRAM_VIRTUALLY_FRAME" val="{&quot;height&quot;:110.00455614488351,&quot;left&quot;:60,&quot;top&quot;:240,&quot;width&quot;:850}"/>
</p:tagLst>
</file>

<file path=ppt/tags/tag62.xml><?xml version="1.0" encoding="utf-8"?>
<p:tagLst xmlns:p="http://schemas.openxmlformats.org/presentationml/2006/main">
  <p:tag name="KSO_WM_DIAGRAM_VIRTUALLY_FRAME" val="{&quot;height&quot;:110.00455614488351,&quot;left&quot;:60,&quot;top&quot;:240,&quot;width&quot;:850}"/>
</p:tagLst>
</file>

<file path=ppt/tags/tag63.xml><?xml version="1.0" encoding="utf-8"?>
<p:tagLst xmlns:p="http://schemas.openxmlformats.org/presentationml/2006/main">
  <p:tag name="KSO_WM_DIAGRAM_VIRTUALLY_FRAME" val="{&quot;height&quot;:110.00455614488351,&quot;left&quot;:60,&quot;top&quot;:240,&quot;width&quot;:850}"/>
</p:tagLst>
</file>

<file path=ppt/tags/tag64.xml><?xml version="1.0" encoding="utf-8"?>
<p:tagLst xmlns:p="http://schemas.openxmlformats.org/presentationml/2006/main">
  <p:tag name="KSO_WM_DIAGRAM_VIRTUALLY_FRAME" val="{&quot;height&quot;:110.00455614488351,&quot;left&quot;:60,&quot;top&quot;:240,&quot;width&quot;:850}"/>
</p:tagLst>
</file>

<file path=ppt/tags/tag65.xml><?xml version="1.0" encoding="utf-8"?>
<p:tagLst xmlns:p="http://schemas.openxmlformats.org/presentationml/2006/main">
  <p:tag name="KSO_WM_DIAGRAM_VIRTUALLY_FRAME" val="{&quot;height&quot;:110.00455614488351,&quot;left&quot;:60,&quot;top&quot;:240,&quot;width&quot;:850}"/>
</p:tagLst>
</file>

<file path=ppt/tags/tag66.xml><?xml version="1.0" encoding="utf-8"?>
<p:tagLst xmlns:p="http://schemas.openxmlformats.org/presentationml/2006/main">
  <p:tag name="KSO_WM_DIAGRAM_VIRTUALLY_FRAME" val="{&quot;height&quot;:110.00455614488351,&quot;left&quot;:60,&quot;top&quot;:240,&quot;width&quot;:850}"/>
</p:tagLst>
</file>

<file path=ppt/tags/tag67.xml><?xml version="1.0" encoding="utf-8"?>
<p:tagLst xmlns:p="http://schemas.openxmlformats.org/presentationml/2006/main">
  <p:tag name="KSO_WM_DIAGRAM_VIRTUALLY_FRAME" val="{&quot;height&quot;:110.00455614488351,&quot;left&quot;:60,&quot;top&quot;:240,&quot;width&quot;:850}"/>
</p:tagLst>
</file>

<file path=ppt/tags/tag68.xml><?xml version="1.0" encoding="utf-8"?>
<p:tagLst xmlns:p="http://schemas.openxmlformats.org/presentationml/2006/main">
  <p:tag name="KSO_WM_DIAGRAM_VIRTUALLY_FRAME" val="{&quot;height&quot;:110.00455614488351,&quot;left&quot;:60,&quot;top&quot;:240,&quot;width&quot;:850}"/>
</p:tagLst>
</file>

<file path=ppt/tags/tag69.xml><?xml version="1.0" encoding="utf-8"?>
<p:tagLst xmlns:p="http://schemas.openxmlformats.org/presentationml/2006/main">
  <p:tag name="KSO_WM_DIAGRAM_VIRTUALLY_FRAME" val="{&quot;height&quot;:110.00455614488351,&quot;left&quot;:60,&quot;top&quot;:240,&quot;width&quot;:850}"/>
</p:tagLst>
</file>

<file path=ppt/tags/tag70.xml><?xml version="1.0" encoding="utf-8"?>
<p:tagLst xmlns:p="http://schemas.openxmlformats.org/presentationml/2006/main">
  <p:tag name="KSO_WM_DIAGRAM_VIRTUALLY_FRAME" val="{&quot;height&quot;:110.00455614488351,&quot;left&quot;:60,&quot;top&quot;:240,&quot;width&quot;:850}"/>
</p:tagLst>
</file>

<file path=ppt/tags/tag71.xml><?xml version="1.0" encoding="utf-8"?>
<p:tagLst xmlns:p="http://schemas.openxmlformats.org/presentationml/2006/main">
  <p:tag name="KSO_WM_DIAGRAM_VIRTUALLY_FRAME" val="{&quot;height&quot;:110.00455614488351,&quot;left&quot;:60,&quot;top&quot;:240,&quot;width&quot;:850}"/>
</p:tagLst>
</file>

<file path=ppt/tags/tag72.xml><?xml version="1.0" encoding="utf-8"?>
<p:tagLst xmlns:p="http://schemas.openxmlformats.org/presentationml/2006/main">
  <p:tag name="KSO_WM_DIAGRAM_VIRTUALLY_FRAME" val="{&quot;height&quot;:428.1,&quot;left&quot;:429.1567716535433,&quot;top&quot;:74.7,&quot;width&quot;:525.7432283464567}"/>
  <p:tag name="KSO_WM_BEAUTIFY_FLAG" val=""/>
</p:tagLst>
</file>

<file path=ppt/tags/tag73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74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75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76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77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78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79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80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81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82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83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84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85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86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87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88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89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90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91.xml><?xml version="1.0" encoding="utf-8"?>
<p:tagLst xmlns:p="http://schemas.openxmlformats.org/presentationml/2006/main">
  <p:tag name="KSO_WM_DIAGRAM_VIRTUALLY_FRAME" val="{&quot;height&quot;:428.1,&quot;left&quot;:429.1567716535433,&quot;top&quot;:74.7,&quot;width&quot;:525.7432283464567}"/>
  <p:tag name="KSO_WM_BEAUTIFY_FLAG" val=""/>
</p:tagLst>
</file>

<file path=ppt/tags/tag92.xml><?xml version="1.0" encoding="utf-8"?>
<p:tagLst xmlns:p="http://schemas.openxmlformats.org/presentationml/2006/main">
  <p:tag name="COMMONDATA" val="eyJoZGlkIjoiZDdjN2NjMDJjMDhlNTcyODdhZDcxZWMyYWM4YWYyMGQifQ==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4396</Words>
  <Application>WPS 演示</Application>
  <PresentationFormat>宽屏</PresentationFormat>
  <Paragraphs>267</Paragraphs>
  <Slides>17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9" baseType="lpstr">
      <vt:lpstr>Arial</vt:lpstr>
      <vt:lpstr>宋体</vt:lpstr>
      <vt:lpstr>Wingdings</vt:lpstr>
      <vt:lpstr>方正舒体</vt:lpstr>
      <vt:lpstr>Calibri</vt:lpstr>
      <vt:lpstr>微软雅黑</vt:lpstr>
      <vt:lpstr>Noto Sans SC</vt:lpstr>
      <vt:lpstr>等线</vt:lpstr>
      <vt:lpstr>Arial</vt:lpstr>
      <vt:lpstr>Calibri</vt:lpstr>
      <vt:lpstr>Arial Black</vt:lpstr>
      <vt:lpstr>Calibri Light</vt:lpstr>
      <vt:lpstr>方正宋刻本秀楷简体</vt:lpstr>
      <vt:lpstr>Consolas</vt:lpstr>
      <vt:lpstr>方正兰亭黑_GBK</vt:lpstr>
      <vt:lpstr>黑体</vt:lpstr>
      <vt:lpstr>Times New Roman</vt:lpstr>
      <vt:lpstr>Arial Unicode MS</vt:lpstr>
      <vt:lpstr>等线 Light</vt:lpstr>
      <vt:lpstr>Cambria Math</vt:lpstr>
      <vt:lpstr>1_Office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浅</cp:lastModifiedBy>
  <cp:revision>75</cp:revision>
  <dcterms:created xsi:type="dcterms:W3CDTF">2020-07-27T01:08:00Z</dcterms:created>
  <dcterms:modified xsi:type="dcterms:W3CDTF">2026-07-01T16:06:54Z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26D73F689489467CACB6C4A816F6CA4B_13</vt:lpwstr>
  </property>
  <property fmtid="{D5CDD505-2E9C-101B-9397-08002B2CF9AE}" pid="3" name="KSOProductBuildVer">
    <vt:lpwstr>2052-12.1.0.26895</vt:lpwstr>
  </property>
</Properties>
</file>